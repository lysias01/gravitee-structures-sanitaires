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D1A2FCF-D9F3-702B-F754-3CDDF1008CEA}">
          <p14:sldIdLst>
            <p14:sldId id="256"/>
            <p14:sldId id="257"/>
            <p14:sldId id="258"/>
          </p14:sldIdLst>
        </p14:section>
        <p14:section name="Backend" id="{01CF0E48-1020-310C-6ED0-E0C9FD69CC68}">
          <p14:sldIdLst>
            <p14:sldId id="259"/>
            <p14:sldId id="260"/>
          </p14:sldIdLst>
        </p14:section>
        <p14:section name="Contrat d'API" id="{50162DE9-99F7-0DFD-5207-5CB957A73F54}">
          <p14:sldIdLst>
            <p14:sldId id="261"/>
            <p14:sldId id="262"/>
          </p14:sldIdLst>
        </p14:section>
        <p14:section name="Gravitee" id="{1D1F3E41-ADAF-88AC-F89E-7BE400620498}">
          <p14:sldIdLst>
            <p14:sldId id="263"/>
            <p14:sldId id="264"/>
          </p14:sldIdLst>
        </p14:section>
        <p14:section name="Cycle de vie et tests" id="{1C84A71B-4D61-F21D-A562-7BEE75636A23}">
          <p14:sldIdLst>
            <p14:sldId id="265"/>
            <p14:sldId id="266"/>
            <p14:sldId id="267"/>
          </p14:sldIdLst>
        </p14:section>
        <p14:section name="Conclusion" id="{D6A4E25B-ED4C-B725-F019-3AD0CDACDAB6}">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848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 SIMPORE. Bonjour, nous sommes le groupe 2 de SI. Notre thème est le numéro 22 : la gestion du cycle de vie des API avec Gravitee API Management. Nous avons développé une API de consultation de structures sanitaires, puis nous l'avons exposée, sécurisée et fait évoluer avec Gravitee. Chaque membre va présenter la partie dont il a eu la charge.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 un ministère fictif veut ouvrir son référentiel de structures sanitaires à des partenaires. Il a besoin de quatre choses : exposer les données en lecture, sécuriser l'accès, savoir qui consomme l'API, et faire évoluer l'API sans casser les applications existantes. Gravitee est l'outil qui répond à ces besoins : il se place entre les consommateurs et notre backend.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En haut, le trafic : le consommateur n'appelle jamais directement notre API. Il passe par la gateway Gravitee sur le port 8082, qui vérifie la clé d'API et le quota, puis transmet la requête à notre API FastAPI, qui lit la base PostgreSQL. En bas, la partie gestion : la Console sert à configurer, la Management API enregistre la configuration dans MongoDB et la déploie sur la gateway, et le portail permet aux développeurs de découvrir l'API et d'obtenir une clé. Tout démarre avec une seule commande Docker Compose.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Présentatrice : KAZIENGA. La base PostgreSQL contient une seule table, structures_sanitaires, avec 40 structures fictives réparties sur 13 régions et 5 types. Des contraintes CHECK garantissent des types et statuts valides, et des index accélèrent la recherche par région, ville, type et nom. La base est créée automatiquement au démarrage du conteneur grâce aux deux scripts SQL. L'API FastAPI expose quatre routes, toutes en lecture seule : la liste, la recherche, le détail et un contrôle de santé.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pagination fonctionne avec deux paramètres : page et size, limité à 100 éléments. Chaque réponse contient le numéro de page, la taille, le total et le nombre de pages, ce qui permet au client de naviguer. Ici, la page 2 avec 5 éléments par page : 40 structures au total, donc 8 pages. La recherche combine un texte libre et des filtres, sans tenir compte des majuscules. Si aucun critère n'est fourni, ou si un paramètre est invalide, l'API répond 400 en précisant le champ en cause.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 NANA. Le contrat OpenAPI est généré automatiquement à partir du code FastAPI, donc il ne peut pas diverger de l'API réelle. Un script l'enrichit pour Gravitee : l'adresse du backend, le schéma de sécurité par clé d'API et les erreurs que la gateway peut ajouter, 401 et 429. Les deux contrats ont été validés, puis importés dans Gravitee, qui publie la documentation sur le portail. Toutes les erreurs du backend ont le même format : un statut, un code lisible par une machine, un message et des détails.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distingue deux origines d'erreur. Les six premières viennent de notre backend : paramètres invalides, recherche vide, structure inexistante, écriture interdite, base indisponible et erreur interne. Les trois dernières sont ajoutées par la gateway avant même d'atteindre le backend : 401 quand la clé manque ou n'est pas valable pour cette API, 429 quand le quota est dépassé, et 404 quand l'API est arrêtée. Enfin, un identifiant de corrélation permet de suivre une requête de bout en bout dans les journaux.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 YAMEOGO. Pour enregistrer l'API dans Gravitee, nous avons importé le contrat OpenAPI. Nous avons ensuite défini le point d'entrée public, /sante/structures/v1, et la cible : notre API FastAPI, joignable par son nom sur le réseau Docker. Après le déploiement, un appel sur la gateway, port 8082, renvoie bien les données. Les en-têtes X-Gravitee prouvent que la réponse est passée par la gateway.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sécuriser l'API, nous avons créé un plan Standard de type clé d'API, avec deux restrictions : 5 requêtes par 10 secondes et 1 000 par jour. Puis nous avons créé une application consommatrice, App Ministère Santé, qui a souscrit à ce plan. Une fois la souscription validée, Gravitee génère une clé. Résultat : sans clé, l'appel est refusé avec un 401. Avec la clé, les 5 premiers appels passent et le sixième reçoit un 429. Une fausse clé est aussi refusée.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 OUEDRAOGO. Dans Gravitee, une API a deux états indépendants. Le cycle de vie, qui gère sa visibilité : créée, publiée, retirée, puis republiée. Et l'état d'exécution, démarrée ou arrêtée, qui décide si la gateway accepte le trafic. Pour la version 2, nous avons créé une deuxième API sur un nouveau chemin, avec un format plus riche. La v1 continue de fonctionner : nous avons seulement déprécié son plan, donc les abonnés existants gardent l'accès, mais personne ne peut plus y souscrire. Et une clé v1 ne permet pas d'appeler la v2.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démonstration du point 7 du sujet. À gauche, nous avons retiré l'API du portail : elle n'apparaît plus dans le catalogue, mais une application déjà abonnée l'appelle toujours avec succès, code 200. À droite, nous avons arrêté l'API : avec la même clé valide, la gateway répond 404, car elle ne connaît plus ce chemin. Le retrait agit donc sur la visibilité, l'arrêt agit sur le trafic. Ce sont deux états distincts.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vérifier le tout, nous avons écrit une collection Postman rejouée automatiquement avec Newman. Elle contient 26 requêtes et 44 vérifications, et aucune n'échoue. Elle teste le backend directement, puis à travers la gateway : refus sans clé, quota, version 2. Le test de bout en bout part de la clé obtenue par souscription, traverse la gateway et l'API, et vérifie qu'on retrouve exactement la ligne insérée par le script SQL.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 SIMPORE. Quelques difficultés et enseignements. Gravitee est lourd : huit conteneurs et plusieurs gigaoctets de mémoire, donc nous avons fixé les versions et téléchargé les images à l'avance. À l'import, Gravitee déduit le chemin public du contrat, il a fallu le corriger. Publier et démarrer une API sont deux actions séparées, ce qui est justement le cœur du sujet. Enfin, certaines actions sont définitives, comme la dépréciation, donc nous avons déprécié le plan de la v1 plutôt que l'API elle-même. Pour la reproductibilité, les définitions d'API sont exportées en JSON ; seules les applications et souscriptions sont à recréer.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les sept exigences du sujet sont couvertes. Nous allons maintenant faire une démonstration en direct : le portail, les appels refusés et acceptés, le quota, le retrait, l'arrêt et la version 2. Comme perspectives, on pourrait passer à une authentification OAuth2 ou JWT, exécuter les tests Newman automatiquement à chaque modification, et exploiter les alertes et tableaux de bord de Gravitee. Merci pour votre attention, nous sommes prêts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0E4D4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6766560" cy="18288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3383280"/>
            <a:ext cx="6766560" cy="82296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457200" y="6419088"/>
            <a:ext cx="9144000" cy="274320"/>
          </a:xfrm>
          <a:prstGeom prst="rect">
            <a:avLst/>
          </a:prstGeom>
          <a:noFill/>
          <a:ln/>
        </p:spPr>
        <p:txBody>
          <a:bodyPr wrap="square" lIns="0" tIns="0" rIns="0" bIns="0" rtlCol="0" anchor="ctr"/>
          <a:lstStyle/>
          <a:p>
            <a:pPr marL="0" indent="0">
              <a:buNone/>
            </a:pPr>
            <a:r>
              <a:rPr lang="en-US" sz="1000" dirty="0">
                <a:solidFill>
                  <a:schemeClr val="accent6"/>
                </a:solidFill>
              </a:rPr>
              <a:t>Thème 22 · Gestion du cycle de vie des API avec Gravitee · SI Groupe 2 · IBAM 2026</a:t>
            </a:r>
            <a:endParaRPr lang="en-US" sz="1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N">
    <p:bg>
      <p:bgPr>
        <a:solidFill>
          <a:srgbClr val="0E4D4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10881360"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6766560" cy="1828800"/>
          </a:xfrm>
          <a:prstGeom prst="rect">
            <a:avLst/>
          </a:prstGeom>
          <a:noFill/>
          <a:ln/>
        </p:spPr>
        <p:txBody>
          <a:bodyPr wrap="square" lIns="0" tIns="0" rIns="0" bIns="0" rtlCol="0" anchor="b"/>
          <a:lstStyle/>
          <a:p>
            <a:pPr marL="0" indent="0" algn="l">
              <a:buNone/>
            </a:pPr>
            <a:r>
              <a:rPr lang="en-US" sz="4000" b="1" dirty="0">
                <a:solidFill>
                  <a:schemeClr val="bg1"/>
                </a:solidFill>
              </a:rPr>
              <a:t>Gestion du cycle de vie des API avec Gravitee</a:t>
            </a:r>
            <a:endParaRPr lang="en-US" sz="4000" dirty="0"/>
          </a:p>
        </p:txBody>
      </p:sp>
      <p:sp>
        <p:nvSpPr>
          <p:cNvPr id="3" name="Text 0"/>
          <p:cNvSpPr>
            <a:spLocks noGrp="1"/>
          </p:cNvSpPr>
          <p:nvPr>
            <p:ph type="body" idx="101" hasCustomPrompt="1"/>
          </p:nvPr>
        </p:nvSpPr>
        <p:spPr>
          <a:xfrm>
            <a:off x="640080" y="3383280"/>
            <a:ext cx="6766560" cy="822960"/>
          </a:xfrm>
          <a:prstGeom prst="rect">
            <a:avLst/>
          </a:prstGeom>
          <a:noFill/>
          <a:ln/>
        </p:spPr>
        <p:txBody>
          <a:bodyPr wrap="square" lIns="0" tIns="0" rIns="0" bIns="0" rtlCol="0" anchor="t"/>
          <a:lstStyle/>
          <a:p>
            <a:pPr marL="0" indent="0">
              <a:buNone/>
            </a:pPr>
            <a:r>
              <a:rPr lang="en-US" sz="1800" dirty="0">
                <a:solidFill>
                  <a:schemeClr val="bg2"/>
                </a:solidFill>
              </a:rPr>
              <a:t>API de consultation des structures sanitaires · Thème 22</a:t>
            </a:r>
            <a:endParaRPr lang="en-US" sz="1800" dirty="0"/>
          </a:p>
        </p:txBody>
      </p:sp>
      <p:sp>
        <p:nvSpPr>
          <p:cNvPr id="4" name="Text 2"/>
          <p:cNvSpPr txBox="1"/>
          <p:nvPr/>
        </p:nvSpPr>
        <p:spPr>
          <a:xfrm>
            <a:off x="640080" y="4572000"/>
            <a:ext cx="6949440" cy="1554480"/>
          </a:xfrm>
          <a:prstGeom prst="rect">
            <a:avLst/>
          </a:prstGeom>
          <a:noFill/>
          <a:ln/>
        </p:spPr>
        <p:txBody>
          <a:bodyPr wrap="square" lIns="0" tIns="0" rIns="0" bIns="0" rtlCol="0" anchor="t"/>
          <a:lstStyle/>
          <a:p>
            <a:pPr marL="0" indent="0">
              <a:spcAft>
                <a:spcPts val="600"/>
              </a:spcAft>
              <a:buNone/>
            </a:pPr>
            <a:r>
              <a:rPr lang="en-US" sz="1600" b="1" dirty="0">
                <a:solidFill>
                  <a:schemeClr val="bg1"/>
                </a:solidFill>
              </a:rPr>
              <a:t>SI Groupe 2</a:t>
            </a:r>
            <a:endParaRPr lang="en-US" sz="1600" dirty="0"/>
          </a:p>
          <a:p>
            <a:pPr marL="0" indent="0">
              <a:spcAft>
                <a:spcPts val="600"/>
              </a:spcAft>
              <a:buNone/>
            </a:pPr>
            <a:r>
              <a:rPr lang="en-US" sz="1400" dirty="0">
                <a:solidFill>
                  <a:schemeClr val="bg2"/>
                </a:solidFill>
              </a:rPr>
              <a:t>SIMPORE Wend-Yam Lysias Eldad · KAZIENGA Eva Benjamine · NANA Florent Kyêsba Rodrigue · YAMEOGO Fiacre Donald Tebnooma · OUEDRAOGO D. Adan Franck</a:t>
            </a:r>
            <a:endParaRPr lang="en-US" sz="1600" dirty="0"/>
          </a:p>
          <a:p>
            <a:pPr marL="0" indent="0">
              <a:spcAft>
                <a:spcPts val="600"/>
              </a:spcAft>
              <a:buNone/>
            </a:pPr>
            <a:r>
              <a:rPr lang="en-US" sz="1200" dirty="0">
                <a:solidFill>
                  <a:schemeClr val="bg2"/>
                </a:solidFill>
              </a:rPr>
              <a:t>Master 1 IBAM · Développement à base de composants et services web · Octobre 2026</a:t>
            </a:r>
            <a:endParaRPr lang="en-US" sz="1600" dirty="0"/>
          </a:p>
        </p:txBody>
      </p:sp>
      <p:sp>
        <p:nvSpPr>
          <p:cNvPr id="5" name="icone-FaMobileAlt"/>
          <p:cNvSpPr/>
          <p:nvPr/>
        </p:nvSpPr>
        <p:spPr>
          <a:xfrm>
            <a:off x="9144000" y="868680"/>
            <a:ext cx="1005840" cy="1005840"/>
          </a:xfrm>
          <a:prstGeom prst="ellipse">
            <a:avLst/>
          </a:prstGeom>
          <a:solidFill>
            <a:schemeClr val="accent1"/>
          </a:solidFill>
          <a:ln w="12700">
            <a:solidFill>
              <a:schemeClr val="accent1"/>
            </a:solidFill>
            <a:prstDash val="solid"/>
          </a:ln>
        </p:spPr>
        <p:txBody>
          <a:bodyPr/>
          <a:lstStyle/>
          <a:p>
            <a:endParaRPr lang="fr-FR"/>
          </a:p>
        </p:txBody>
      </p:sp>
      <p:pic>
        <p:nvPicPr>
          <p:cNvPr id="6" name="Image 0" descr="FaMobileAlt"/>
          <p:cNvPicPr>
            <a:picLocks noChangeAspect="1"/>
          </p:cNvPicPr>
          <p:nvPr/>
        </p:nvPicPr>
        <p:blipFill>
          <a:blip r:embed="rId3"/>
          <a:stretch>
            <a:fillRect/>
          </a:stretch>
        </p:blipFill>
        <p:spPr>
          <a:xfrm>
            <a:off x="9425635" y="1150315"/>
            <a:ext cx="442570" cy="442570"/>
          </a:xfrm>
          <a:prstGeom prst="rect">
            <a:avLst/>
          </a:prstGeom>
        </p:spPr>
      </p:pic>
      <p:sp>
        <p:nvSpPr>
          <p:cNvPr id="7" name="icone-FaShieldAlt"/>
          <p:cNvSpPr/>
          <p:nvPr/>
        </p:nvSpPr>
        <p:spPr>
          <a:xfrm>
            <a:off x="8778240" y="2697480"/>
            <a:ext cx="1737360" cy="1737360"/>
          </a:xfrm>
          <a:prstGeom prst="ellipse">
            <a:avLst/>
          </a:prstGeom>
          <a:solidFill>
            <a:schemeClr val="accent2"/>
          </a:solidFill>
          <a:ln w="12700">
            <a:solidFill>
              <a:schemeClr val="accent2"/>
            </a:solidFill>
            <a:prstDash val="solid"/>
          </a:ln>
        </p:spPr>
        <p:txBody>
          <a:bodyPr/>
          <a:lstStyle/>
          <a:p>
            <a:endParaRPr lang="fr-FR"/>
          </a:p>
        </p:txBody>
      </p:sp>
      <p:pic>
        <p:nvPicPr>
          <p:cNvPr id="8" name="Image 1" descr="FaShieldAlt"/>
          <p:cNvPicPr>
            <a:picLocks noChangeAspect="1"/>
          </p:cNvPicPr>
          <p:nvPr/>
        </p:nvPicPr>
        <p:blipFill>
          <a:blip r:embed="rId4"/>
          <a:stretch>
            <a:fillRect/>
          </a:stretch>
        </p:blipFill>
        <p:spPr>
          <a:xfrm>
            <a:off x="9264701" y="3183941"/>
            <a:ext cx="764438" cy="764438"/>
          </a:xfrm>
          <a:prstGeom prst="rect">
            <a:avLst/>
          </a:prstGeom>
        </p:spPr>
      </p:pic>
      <p:sp>
        <p:nvSpPr>
          <p:cNvPr id="9" name="icone-FaDatabase"/>
          <p:cNvSpPr/>
          <p:nvPr/>
        </p:nvSpPr>
        <p:spPr>
          <a:xfrm>
            <a:off x="9144000" y="5074920"/>
            <a:ext cx="1005840" cy="1005840"/>
          </a:xfrm>
          <a:prstGeom prst="ellipse">
            <a:avLst/>
          </a:prstGeom>
          <a:solidFill>
            <a:schemeClr val="accent1"/>
          </a:solidFill>
          <a:ln w="12700">
            <a:solidFill>
              <a:schemeClr val="accent1"/>
            </a:solidFill>
            <a:prstDash val="solid"/>
          </a:ln>
        </p:spPr>
        <p:txBody>
          <a:bodyPr/>
          <a:lstStyle/>
          <a:p>
            <a:endParaRPr lang="fr-FR"/>
          </a:p>
        </p:txBody>
      </p:sp>
      <p:pic>
        <p:nvPicPr>
          <p:cNvPr id="10" name="Image 2" descr="FaDatabase"/>
          <p:cNvPicPr>
            <a:picLocks noChangeAspect="1"/>
          </p:cNvPicPr>
          <p:nvPr/>
        </p:nvPicPr>
        <p:blipFill>
          <a:blip r:embed="rId5"/>
          <a:stretch>
            <a:fillRect/>
          </a:stretch>
        </p:blipFill>
        <p:spPr>
          <a:xfrm>
            <a:off x="9425635" y="5356555"/>
            <a:ext cx="442570" cy="442570"/>
          </a:xfrm>
          <a:prstGeom prst="rect">
            <a:avLst/>
          </a:prstGeom>
        </p:spPr>
      </p:pic>
      <p:sp>
        <p:nvSpPr>
          <p:cNvPr id="11" name="fleche"/>
          <p:cNvSpPr/>
          <p:nvPr/>
        </p:nvSpPr>
        <p:spPr>
          <a:xfrm>
            <a:off x="9646920" y="1920240"/>
            <a:ext cx="0" cy="731520"/>
          </a:xfrm>
          <a:prstGeom prst="line">
            <a:avLst/>
          </a:prstGeom>
          <a:noFill/>
          <a:ln w="25400">
            <a:solidFill>
              <a:schemeClr val="bg2"/>
            </a:solidFill>
            <a:prstDash val="solid"/>
            <a:tailEnd type="triangle"/>
          </a:ln>
        </p:spPr>
        <p:txBody>
          <a:bodyPr/>
          <a:lstStyle/>
          <a:p>
            <a:endParaRPr lang="fr-FR"/>
          </a:p>
        </p:txBody>
      </p:sp>
      <p:sp>
        <p:nvSpPr>
          <p:cNvPr id="12" name="fleche"/>
          <p:cNvSpPr/>
          <p:nvPr/>
        </p:nvSpPr>
        <p:spPr>
          <a:xfrm>
            <a:off x="9646920" y="4480560"/>
            <a:ext cx="0" cy="548640"/>
          </a:xfrm>
          <a:prstGeom prst="line">
            <a:avLst/>
          </a:prstGeom>
          <a:noFill/>
          <a:ln w="25400">
            <a:solidFill>
              <a:schemeClr val="bg2"/>
            </a:solidFill>
            <a:prstDash val="solid"/>
            <a:tailEnd type="triangle"/>
          </a:ln>
        </p:spPr>
        <p:txBody>
          <a:bodyPr/>
          <a:lstStyle/>
          <a:p>
            <a:endParaRPr lang="fr-FR"/>
          </a:p>
        </p:txBody>
      </p:sp>
      <p:sp>
        <p:nvSpPr>
          <p:cNvPr id="13" name="Text 8"/>
          <p:cNvSpPr txBox="1"/>
          <p:nvPr/>
        </p:nvSpPr>
        <p:spPr>
          <a:xfrm>
            <a:off x="10607040" y="3337560"/>
            <a:ext cx="1554480" cy="457200"/>
          </a:xfrm>
          <a:prstGeom prst="rect">
            <a:avLst/>
          </a:prstGeom>
          <a:noFill/>
          <a:ln/>
        </p:spPr>
        <p:txBody>
          <a:bodyPr wrap="square" lIns="0" tIns="0" rIns="0" bIns="0" rtlCol="0" anchor="ctr"/>
          <a:lstStyle/>
          <a:p>
            <a:pPr marL="0" indent="0">
              <a:buNone/>
            </a:pPr>
            <a:r>
              <a:rPr lang="en-US" sz="1400" b="1" dirty="0">
                <a:solidFill>
                  <a:schemeClr val="bg1"/>
                </a:solidFill>
              </a:rPr>
              <a:t>Gateway Gravitee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Contexte et objectifs</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SIMPORE W. L. Eldad</a:t>
            </a:r>
            <a:endParaRPr lang="en-US" sz="1200" dirty="0"/>
          </a:p>
        </p:txBody>
      </p:sp>
      <p:sp>
        <p:nvSpPr>
          <p:cNvPr id="4" name="Text 2"/>
          <p:cNvSpPr txBox="1"/>
          <p:nvPr/>
        </p:nvSpPr>
        <p:spPr>
          <a:xfrm>
            <a:off x="457200" y="1463040"/>
            <a:ext cx="4023360" cy="2743200"/>
          </a:xfrm>
          <a:prstGeom prst="rect">
            <a:avLst/>
          </a:prstGeom>
          <a:noFill/>
          <a:ln/>
        </p:spPr>
        <p:txBody>
          <a:bodyPr wrap="square" lIns="0" tIns="0" rIns="0" bIns="0" rtlCol="0" anchor="t"/>
          <a:lstStyle/>
          <a:p>
            <a:pPr marL="0" indent="0">
              <a:buNone/>
            </a:pPr>
            <a:r>
              <a:rPr lang="en-US" sz="1800" dirty="0">
                <a:solidFill>
                  <a:schemeClr val="tx1"/>
                </a:solidFill>
              </a:rPr>
              <a:t>Un ministère de la santé (fictif) veut ouvrir son référentiel de structures sanitaires à des applications partenaires.</a:t>
            </a:r>
            <a:endParaRPr lang="en-US" sz="1800" dirty="0"/>
          </a:p>
          <a:p>
            <a:pPr marL="0" indent="0">
              <a:buNone/>
            </a:pPr>
            <a:r>
              <a:rPr lang="en-US" sz="800" dirty="0">
                <a:solidFill>
                  <a:schemeClr val="tx1"/>
                </a:solidFill>
              </a:rPr>
              <a:t> </a:t>
            </a:r>
            <a:endParaRPr lang="en-US" sz="1800" dirty="0"/>
          </a:p>
          <a:p>
            <a:pPr marL="0" indent="0">
              <a:buNone/>
            </a:pPr>
            <a:r>
              <a:rPr lang="en-US" sz="1800" dirty="0">
                <a:solidFill>
                  <a:schemeClr val="tx1"/>
                </a:solidFill>
              </a:rPr>
              <a:t>Il doit savoir qui consomme l'API, limiter la charge et pouvoir faire évoluer l'API sans casser les applications existantes.</a:t>
            </a:r>
            <a:endParaRPr lang="en-US" sz="1800" dirty="0"/>
          </a:p>
        </p:txBody>
      </p:sp>
      <p:sp>
        <p:nvSpPr>
          <p:cNvPr id="5" name="Text 3"/>
          <p:cNvSpPr txBox="1"/>
          <p:nvPr/>
        </p:nvSpPr>
        <p:spPr>
          <a:xfrm>
            <a:off x="457200" y="4480560"/>
            <a:ext cx="4023360" cy="365760"/>
          </a:xfrm>
          <a:prstGeom prst="rect">
            <a:avLst/>
          </a:prstGeom>
          <a:noFill/>
          <a:ln/>
        </p:spPr>
        <p:txBody>
          <a:bodyPr wrap="square" lIns="0" tIns="0" rIns="0" bIns="0" rtlCol="0" anchor="ctr"/>
          <a:lstStyle/>
          <a:p>
            <a:pPr marL="0" indent="0">
              <a:buNone/>
            </a:pPr>
            <a:r>
              <a:rPr lang="en-US" sz="1200" i="1" dirty="0">
                <a:solidFill>
                  <a:schemeClr val="accent6"/>
                </a:solidFill>
              </a:rPr>
              <a:t>Toutes les données utilisées sont inventées.</a:t>
            </a:r>
            <a:endParaRPr lang="en-US" sz="1200" dirty="0"/>
          </a:p>
        </p:txBody>
      </p:sp>
      <p:sp>
        <p:nvSpPr>
          <p:cNvPr id="6" name="carte-Exposer"/>
          <p:cNvSpPr/>
          <p:nvPr/>
        </p:nvSpPr>
        <p:spPr>
          <a:xfrm>
            <a:off x="4937760" y="1417320"/>
            <a:ext cx="3291840" cy="2240280"/>
          </a:xfrm>
          <a:prstGeom prst="roundRect">
            <a:avLst>
              <a:gd name="adj" fmla="val 4898"/>
            </a:avLst>
          </a:prstGeom>
          <a:solidFill>
            <a:schemeClr val="bg2"/>
          </a:solidFill>
          <a:ln w="12700">
            <a:solidFill>
              <a:schemeClr val="bg2"/>
            </a:solidFill>
            <a:prstDash val="solid"/>
          </a:ln>
        </p:spPr>
        <p:txBody>
          <a:bodyPr/>
          <a:lstStyle/>
          <a:p>
            <a:endParaRPr lang="fr-FR"/>
          </a:p>
        </p:txBody>
      </p:sp>
      <p:sp>
        <p:nvSpPr>
          <p:cNvPr id="7" name="icone-FaGlobe"/>
          <p:cNvSpPr/>
          <p:nvPr/>
        </p:nvSpPr>
        <p:spPr>
          <a:xfrm>
            <a:off x="5212080" y="1691640"/>
            <a:ext cx="685800" cy="685800"/>
          </a:xfrm>
          <a:prstGeom prst="ellipse">
            <a:avLst/>
          </a:prstGeom>
          <a:solidFill>
            <a:schemeClr val="accent1"/>
          </a:solidFill>
          <a:ln w="12700">
            <a:solidFill>
              <a:schemeClr val="accent1"/>
            </a:solidFill>
            <a:prstDash val="solid"/>
          </a:ln>
        </p:spPr>
        <p:txBody>
          <a:bodyPr/>
          <a:lstStyle/>
          <a:p>
            <a:endParaRPr lang="fr-FR"/>
          </a:p>
        </p:txBody>
      </p:sp>
      <p:pic>
        <p:nvPicPr>
          <p:cNvPr id="8" name="Image 0" descr="FaGlobe"/>
          <p:cNvPicPr>
            <a:picLocks noChangeAspect="1"/>
          </p:cNvPicPr>
          <p:nvPr/>
        </p:nvPicPr>
        <p:blipFill>
          <a:blip r:embed="rId3"/>
          <a:stretch>
            <a:fillRect/>
          </a:stretch>
        </p:blipFill>
        <p:spPr>
          <a:xfrm>
            <a:off x="5404104" y="1883664"/>
            <a:ext cx="301752" cy="301752"/>
          </a:xfrm>
          <a:prstGeom prst="rect">
            <a:avLst/>
          </a:prstGeom>
        </p:spPr>
      </p:pic>
      <p:sp>
        <p:nvSpPr>
          <p:cNvPr id="9" name="Text 6"/>
          <p:cNvSpPr txBox="1"/>
          <p:nvPr/>
        </p:nvSpPr>
        <p:spPr>
          <a:xfrm>
            <a:off x="6035040" y="1691640"/>
            <a:ext cx="2011680" cy="685800"/>
          </a:xfrm>
          <a:prstGeom prst="rect">
            <a:avLst/>
          </a:prstGeom>
          <a:noFill/>
          <a:ln/>
        </p:spPr>
        <p:txBody>
          <a:bodyPr wrap="square" lIns="0" tIns="0" rIns="0" bIns="0" rtlCol="0" anchor="ctr"/>
          <a:lstStyle/>
          <a:p>
            <a:pPr marL="0" indent="0">
              <a:buNone/>
            </a:pPr>
            <a:r>
              <a:rPr lang="en-US" sz="2000" b="1" dirty="0">
                <a:solidFill>
                  <a:schemeClr val="tx2"/>
                </a:solidFill>
              </a:rPr>
              <a:t>Exposer</a:t>
            </a:r>
            <a:endParaRPr lang="en-US" sz="2000" dirty="0"/>
          </a:p>
        </p:txBody>
      </p:sp>
      <p:sp>
        <p:nvSpPr>
          <p:cNvPr id="10" name="Text 7"/>
          <p:cNvSpPr txBox="1"/>
          <p:nvPr/>
        </p:nvSpPr>
        <p:spPr>
          <a:xfrm>
            <a:off x="5212080" y="2560320"/>
            <a:ext cx="2743200" cy="914400"/>
          </a:xfrm>
          <a:prstGeom prst="rect">
            <a:avLst/>
          </a:prstGeom>
          <a:noFill/>
          <a:ln/>
        </p:spPr>
        <p:txBody>
          <a:bodyPr wrap="square" lIns="0" tIns="0" rIns="0" bIns="0" rtlCol="0" anchor="t"/>
          <a:lstStyle/>
          <a:p>
            <a:pPr marL="0" indent="0">
              <a:buNone/>
            </a:pPr>
            <a:r>
              <a:rPr lang="en-US" sz="1500" dirty="0">
                <a:solidFill>
                  <a:schemeClr val="tx1"/>
                </a:solidFill>
              </a:rPr>
              <a:t>API REST en lecture : liste, recherche et détail, avec pagination</a:t>
            </a:r>
            <a:endParaRPr lang="en-US" sz="1500" dirty="0"/>
          </a:p>
        </p:txBody>
      </p:sp>
      <p:sp>
        <p:nvSpPr>
          <p:cNvPr id="11" name="carte-Sécuriser"/>
          <p:cNvSpPr/>
          <p:nvPr/>
        </p:nvSpPr>
        <p:spPr>
          <a:xfrm>
            <a:off x="8503920" y="1417320"/>
            <a:ext cx="3291840" cy="2240280"/>
          </a:xfrm>
          <a:prstGeom prst="roundRect">
            <a:avLst>
              <a:gd name="adj" fmla="val 4898"/>
            </a:avLst>
          </a:prstGeom>
          <a:solidFill>
            <a:schemeClr val="bg2"/>
          </a:solidFill>
          <a:ln w="12700">
            <a:solidFill>
              <a:schemeClr val="bg2"/>
            </a:solidFill>
            <a:prstDash val="solid"/>
          </a:ln>
        </p:spPr>
        <p:txBody>
          <a:bodyPr/>
          <a:lstStyle/>
          <a:p>
            <a:endParaRPr lang="fr-FR"/>
          </a:p>
        </p:txBody>
      </p:sp>
      <p:sp>
        <p:nvSpPr>
          <p:cNvPr id="12" name="icone-FaLock"/>
          <p:cNvSpPr/>
          <p:nvPr/>
        </p:nvSpPr>
        <p:spPr>
          <a:xfrm>
            <a:off x="8778240" y="1691640"/>
            <a:ext cx="685800" cy="685800"/>
          </a:xfrm>
          <a:prstGeom prst="ellipse">
            <a:avLst/>
          </a:prstGeom>
          <a:solidFill>
            <a:schemeClr val="accent1"/>
          </a:solidFill>
          <a:ln w="12700">
            <a:solidFill>
              <a:schemeClr val="accent1"/>
            </a:solidFill>
            <a:prstDash val="solid"/>
          </a:ln>
        </p:spPr>
        <p:txBody>
          <a:bodyPr/>
          <a:lstStyle/>
          <a:p>
            <a:endParaRPr lang="fr-FR"/>
          </a:p>
        </p:txBody>
      </p:sp>
      <p:pic>
        <p:nvPicPr>
          <p:cNvPr id="13" name="Image 1" descr="FaLock"/>
          <p:cNvPicPr>
            <a:picLocks noChangeAspect="1"/>
          </p:cNvPicPr>
          <p:nvPr/>
        </p:nvPicPr>
        <p:blipFill>
          <a:blip r:embed="rId4"/>
          <a:stretch>
            <a:fillRect/>
          </a:stretch>
        </p:blipFill>
        <p:spPr>
          <a:xfrm>
            <a:off x="8970264" y="1883664"/>
            <a:ext cx="301752" cy="301752"/>
          </a:xfrm>
          <a:prstGeom prst="rect">
            <a:avLst/>
          </a:prstGeom>
        </p:spPr>
      </p:pic>
      <p:sp>
        <p:nvSpPr>
          <p:cNvPr id="14" name="Text 10"/>
          <p:cNvSpPr txBox="1"/>
          <p:nvPr/>
        </p:nvSpPr>
        <p:spPr>
          <a:xfrm>
            <a:off x="9601200" y="1691640"/>
            <a:ext cx="2011680" cy="685800"/>
          </a:xfrm>
          <a:prstGeom prst="rect">
            <a:avLst/>
          </a:prstGeom>
          <a:noFill/>
          <a:ln/>
        </p:spPr>
        <p:txBody>
          <a:bodyPr wrap="square" lIns="0" tIns="0" rIns="0" bIns="0" rtlCol="0" anchor="ctr"/>
          <a:lstStyle/>
          <a:p>
            <a:pPr marL="0" indent="0">
              <a:buNone/>
            </a:pPr>
            <a:r>
              <a:rPr lang="en-US" sz="2000" b="1" dirty="0">
                <a:solidFill>
                  <a:schemeClr val="tx2"/>
                </a:solidFill>
              </a:rPr>
              <a:t>Sécuriser</a:t>
            </a:r>
            <a:endParaRPr lang="en-US" sz="2000" dirty="0"/>
          </a:p>
        </p:txBody>
      </p:sp>
      <p:sp>
        <p:nvSpPr>
          <p:cNvPr id="15" name="Text 11"/>
          <p:cNvSpPr txBox="1"/>
          <p:nvPr/>
        </p:nvSpPr>
        <p:spPr>
          <a:xfrm>
            <a:off x="8778240" y="2560320"/>
            <a:ext cx="2743200" cy="914400"/>
          </a:xfrm>
          <a:prstGeom prst="rect">
            <a:avLst/>
          </a:prstGeom>
          <a:noFill/>
          <a:ln/>
        </p:spPr>
        <p:txBody>
          <a:bodyPr wrap="square" lIns="0" tIns="0" rIns="0" bIns="0" rtlCol="0" anchor="t"/>
          <a:lstStyle/>
          <a:p>
            <a:pPr marL="0" indent="0">
              <a:buNone/>
            </a:pPr>
            <a:r>
              <a:rPr lang="en-US" sz="1500" dirty="0">
                <a:solidFill>
                  <a:schemeClr val="tx1"/>
                </a:solidFill>
              </a:rPr>
              <a:t>Clé d'API obligatoire, 5 requêtes / 10 s et 1 000 / jour</a:t>
            </a:r>
            <a:endParaRPr lang="en-US" sz="1500" dirty="0"/>
          </a:p>
        </p:txBody>
      </p:sp>
      <p:sp>
        <p:nvSpPr>
          <p:cNvPr id="16" name="carte-Gouverner"/>
          <p:cNvSpPr/>
          <p:nvPr/>
        </p:nvSpPr>
        <p:spPr>
          <a:xfrm>
            <a:off x="4937760" y="3931920"/>
            <a:ext cx="3291840" cy="2240280"/>
          </a:xfrm>
          <a:prstGeom prst="roundRect">
            <a:avLst>
              <a:gd name="adj" fmla="val 4898"/>
            </a:avLst>
          </a:prstGeom>
          <a:solidFill>
            <a:schemeClr val="bg2"/>
          </a:solidFill>
          <a:ln w="12700">
            <a:solidFill>
              <a:schemeClr val="bg2"/>
            </a:solidFill>
            <a:prstDash val="solid"/>
          </a:ln>
        </p:spPr>
        <p:txBody>
          <a:bodyPr/>
          <a:lstStyle/>
          <a:p>
            <a:endParaRPr lang="fr-FR"/>
          </a:p>
        </p:txBody>
      </p:sp>
      <p:sp>
        <p:nvSpPr>
          <p:cNvPr id="17" name="icone-FaUsersCog"/>
          <p:cNvSpPr/>
          <p:nvPr/>
        </p:nvSpPr>
        <p:spPr>
          <a:xfrm>
            <a:off x="5212080" y="4206240"/>
            <a:ext cx="685800" cy="685800"/>
          </a:xfrm>
          <a:prstGeom prst="ellipse">
            <a:avLst/>
          </a:prstGeom>
          <a:solidFill>
            <a:schemeClr val="accent1"/>
          </a:solidFill>
          <a:ln w="12700">
            <a:solidFill>
              <a:schemeClr val="accent1"/>
            </a:solidFill>
            <a:prstDash val="solid"/>
          </a:ln>
        </p:spPr>
        <p:txBody>
          <a:bodyPr/>
          <a:lstStyle/>
          <a:p>
            <a:endParaRPr lang="fr-FR"/>
          </a:p>
        </p:txBody>
      </p:sp>
      <p:pic>
        <p:nvPicPr>
          <p:cNvPr id="18" name="Image 2" descr="FaUsersCog"/>
          <p:cNvPicPr>
            <a:picLocks noChangeAspect="1"/>
          </p:cNvPicPr>
          <p:nvPr/>
        </p:nvPicPr>
        <p:blipFill>
          <a:blip r:embed="rId5"/>
          <a:stretch>
            <a:fillRect/>
          </a:stretch>
        </p:blipFill>
        <p:spPr>
          <a:xfrm>
            <a:off x="5404104" y="4398264"/>
            <a:ext cx="301752" cy="301752"/>
          </a:xfrm>
          <a:prstGeom prst="rect">
            <a:avLst/>
          </a:prstGeom>
        </p:spPr>
      </p:pic>
      <p:sp>
        <p:nvSpPr>
          <p:cNvPr id="19" name="Text 14"/>
          <p:cNvSpPr txBox="1"/>
          <p:nvPr/>
        </p:nvSpPr>
        <p:spPr>
          <a:xfrm>
            <a:off x="6035040" y="4206240"/>
            <a:ext cx="2011680" cy="685800"/>
          </a:xfrm>
          <a:prstGeom prst="rect">
            <a:avLst/>
          </a:prstGeom>
          <a:noFill/>
          <a:ln/>
        </p:spPr>
        <p:txBody>
          <a:bodyPr wrap="square" lIns="0" tIns="0" rIns="0" bIns="0" rtlCol="0" anchor="ctr"/>
          <a:lstStyle/>
          <a:p>
            <a:pPr marL="0" indent="0">
              <a:buNone/>
            </a:pPr>
            <a:r>
              <a:rPr lang="en-US" sz="2000" b="1" dirty="0">
                <a:solidFill>
                  <a:schemeClr val="tx2"/>
                </a:solidFill>
              </a:rPr>
              <a:t>Gouverner</a:t>
            </a:r>
            <a:endParaRPr lang="en-US" sz="2000" dirty="0"/>
          </a:p>
        </p:txBody>
      </p:sp>
      <p:sp>
        <p:nvSpPr>
          <p:cNvPr id="20" name="Text 15"/>
          <p:cNvSpPr txBox="1"/>
          <p:nvPr/>
        </p:nvSpPr>
        <p:spPr>
          <a:xfrm>
            <a:off x="5212080" y="5074920"/>
            <a:ext cx="2743200" cy="914400"/>
          </a:xfrm>
          <a:prstGeom prst="rect">
            <a:avLst/>
          </a:prstGeom>
          <a:noFill/>
          <a:ln/>
        </p:spPr>
        <p:txBody>
          <a:bodyPr wrap="square" lIns="0" tIns="0" rIns="0" bIns="0" rtlCol="0" anchor="t"/>
          <a:lstStyle/>
          <a:p>
            <a:pPr marL="0" indent="0">
              <a:buNone/>
            </a:pPr>
            <a:r>
              <a:rPr lang="en-US" sz="1500" dirty="0">
                <a:solidFill>
                  <a:schemeClr val="tx1"/>
                </a:solidFill>
              </a:rPr>
              <a:t>Applications consommatrices et souscriptions validées</a:t>
            </a:r>
            <a:endParaRPr lang="en-US" sz="1500" dirty="0"/>
          </a:p>
        </p:txBody>
      </p:sp>
      <p:sp>
        <p:nvSpPr>
          <p:cNvPr id="21" name="carte-Faire évoluer"/>
          <p:cNvSpPr/>
          <p:nvPr/>
        </p:nvSpPr>
        <p:spPr>
          <a:xfrm>
            <a:off x="8503920" y="3931920"/>
            <a:ext cx="3291840" cy="2240280"/>
          </a:xfrm>
          <a:prstGeom prst="roundRect">
            <a:avLst>
              <a:gd name="adj" fmla="val 4898"/>
            </a:avLst>
          </a:prstGeom>
          <a:solidFill>
            <a:schemeClr val="bg2"/>
          </a:solidFill>
          <a:ln w="12700">
            <a:solidFill>
              <a:schemeClr val="bg2"/>
            </a:solidFill>
            <a:prstDash val="solid"/>
          </a:ln>
        </p:spPr>
        <p:txBody>
          <a:bodyPr/>
          <a:lstStyle/>
          <a:p>
            <a:endParaRPr lang="fr-FR"/>
          </a:p>
        </p:txBody>
      </p:sp>
      <p:sp>
        <p:nvSpPr>
          <p:cNvPr id="22" name="icone-FaCodeBranch"/>
          <p:cNvSpPr/>
          <p:nvPr/>
        </p:nvSpPr>
        <p:spPr>
          <a:xfrm>
            <a:off x="8778240" y="4206240"/>
            <a:ext cx="685800" cy="685800"/>
          </a:xfrm>
          <a:prstGeom prst="ellipse">
            <a:avLst/>
          </a:prstGeom>
          <a:solidFill>
            <a:schemeClr val="accent1"/>
          </a:solidFill>
          <a:ln w="12700">
            <a:solidFill>
              <a:schemeClr val="accent1"/>
            </a:solidFill>
            <a:prstDash val="solid"/>
          </a:ln>
        </p:spPr>
        <p:txBody>
          <a:bodyPr/>
          <a:lstStyle/>
          <a:p>
            <a:endParaRPr lang="fr-FR"/>
          </a:p>
        </p:txBody>
      </p:sp>
      <p:pic>
        <p:nvPicPr>
          <p:cNvPr id="23" name="Image 3" descr="FaCodeBranch"/>
          <p:cNvPicPr>
            <a:picLocks noChangeAspect="1"/>
          </p:cNvPicPr>
          <p:nvPr/>
        </p:nvPicPr>
        <p:blipFill>
          <a:blip r:embed="rId6"/>
          <a:stretch>
            <a:fillRect/>
          </a:stretch>
        </p:blipFill>
        <p:spPr>
          <a:xfrm>
            <a:off x="8970264" y="4398264"/>
            <a:ext cx="301752" cy="301752"/>
          </a:xfrm>
          <a:prstGeom prst="rect">
            <a:avLst/>
          </a:prstGeom>
        </p:spPr>
      </p:pic>
      <p:sp>
        <p:nvSpPr>
          <p:cNvPr id="24" name="Text 18"/>
          <p:cNvSpPr txBox="1"/>
          <p:nvPr/>
        </p:nvSpPr>
        <p:spPr>
          <a:xfrm>
            <a:off x="9601200" y="4206240"/>
            <a:ext cx="2011680" cy="685800"/>
          </a:xfrm>
          <a:prstGeom prst="rect">
            <a:avLst/>
          </a:prstGeom>
          <a:noFill/>
          <a:ln/>
        </p:spPr>
        <p:txBody>
          <a:bodyPr wrap="square" lIns="0" tIns="0" rIns="0" bIns="0" rtlCol="0" anchor="ctr"/>
          <a:lstStyle/>
          <a:p>
            <a:pPr marL="0" indent="0">
              <a:buNone/>
            </a:pPr>
            <a:r>
              <a:rPr lang="en-US" sz="2000" b="1" dirty="0">
                <a:solidFill>
                  <a:schemeClr val="tx2"/>
                </a:solidFill>
              </a:rPr>
              <a:t>Faire évoluer</a:t>
            </a:r>
            <a:endParaRPr lang="en-US" sz="2000" dirty="0"/>
          </a:p>
        </p:txBody>
      </p:sp>
      <p:sp>
        <p:nvSpPr>
          <p:cNvPr id="25" name="Text 19"/>
          <p:cNvSpPr txBox="1"/>
          <p:nvPr/>
        </p:nvSpPr>
        <p:spPr>
          <a:xfrm>
            <a:off x="8778240" y="5074920"/>
            <a:ext cx="2743200" cy="914400"/>
          </a:xfrm>
          <a:prstGeom prst="rect">
            <a:avLst/>
          </a:prstGeom>
          <a:noFill/>
          <a:ln/>
        </p:spPr>
        <p:txBody>
          <a:bodyPr wrap="square" lIns="0" tIns="0" rIns="0" bIns="0" rtlCol="0" anchor="t"/>
          <a:lstStyle/>
          <a:p>
            <a:pPr marL="0" indent="0">
              <a:buNone/>
            </a:pPr>
            <a:r>
              <a:rPr lang="en-US" sz="1500" dirty="0">
                <a:solidFill>
                  <a:schemeClr val="tx1"/>
                </a:solidFill>
              </a:rPr>
              <a:t>Publication, retrait, arrêt et version 2 sans casser la v1</a:t>
            </a:r>
            <a:endParaRPr lang="en-US" sz="1500" dirty="0"/>
          </a:p>
        </p:txBody>
      </p:sp>
      <p:sp>
        <p:nvSpPr>
          <p:cNvPr id="26"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Architecture : tout passe par la gateway</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SIMPORE W. L. Eldad</a:t>
            </a:r>
            <a:endParaRPr lang="en-US" sz="1200" dirty="0"/>
          </a:p>
        </p:txBody>
      </p:sp>
      <p:sp>
        <p:nvSpPr>
          <p:cNvPr id="4" name="boite-Consommateur"/>
          <p:cNvSpPr/>
          <p:nvPr/>
        </p:nvSpPr>
        <p:spPr>
          <a:xfrm>
            <a:off x="548640" y="1508760"/>
            <a:ext cx="2377440" cy="960120"/>
          </a:xfrm>
          <a:prstGeom prst="roundRect">
            <a:avLst>
              <a:gd name="adj" fmla="val 9524"/>
            </a:avLst>
          </a:prstGeom>
          <a:solidFill>
            <a:schemeClr val="bg1"/>
          </a:solidFill>
          <a:ln w="25400">
            <a:solidFill>
              <a:schemeClr val="accent6"/>
            </a:solidFill>
            <a:prstDash val="solid"/>
          </a:ln>
        </p:spPr>
        <p:txBody>
          <a:bodyPr/>
          <a:lstStyle/>
          <a:p>
            <a:endParaRPr lang="fr-FR"/>
          </a:p>
        </p:txBody>
      </p:sp>
      <p:sp>
        <p:nvSpPr>
          <p:cNvPr id="5" name="Text 3"/>
          <p:cNvSpPr txBox="1"/>
          <p:nvPr/>
        </p:nvSpPr>
        <p:spPr>
          <a:xfrm>
            <a:off x="548640" y="1508760"/>
            <a:ext cx="2377440" cy="960120"/>
          </a:xfrm>
          <a:prstGeom prst="rect">
            <a:avLst/>
          </a:prstGeom>
          <a:noFill/>
          <a:ln/>
        </p:spPr>
        <p:txBody>
          <a:bodyPr wrap="square" lIns="635" tIns="635" rIns="635" bIns="635" rtlCol="0" anchor="ctr"/>
          <a:lstStyle/>
          <a:p>
            <a:pPr marL="0" indent="0" algn="ctr">
              <a:buNone/>
            </a:pPr>
            <a:r>
              <a:rPr lang="en-US" sz="1600" b="1" dirty="0">
                <a:solidFill>
                  <a:schemeClr val="tx1"/>
                </a:solidFill>
              </a:rPr>
              <a:t>Consommateur</a:t>
            </a:r>
            <a:endParaRPr lang="en-US" sz="1600" dirty="0"/>
          </a:p>
          <a:p>
            <a:pPr marL="0" indent="0" algn="ctr">
              <a:buNone/>
            </a:pPr>
            <a:r>
              <a:rPr lang="en-US" sz="1200" dirty="0">
                <a:solidFill>
                  <a:schemeClr val="tx1"/>
                </a:solidFill>
              </a:rPr>
              <a:t>Postman, application</a:t>
            </a:r>
            <a:endParaRPr lang="en-US" sz="1600" dirty="0"/>
          </a:p>
        </p:txBody>
      </p:sp>
      <p:sp>
        <p:nvSpPr>
          <p:cNvPr id="6" name="boite-Gateway"/>
          <p:cNvSpPr/>
          <p:nvPr/>
        </p:nvSpPr>
        <p:spPr>
          <a:xfrm>
            <a:off x="3520440" y="1508760"/>
            <a:ext cx="2377440" cy="960120"/>
          </a:xfrm>
          <a:prstGeom prst="roundRect">
            <a:avLst>
              <a:gd name="adj" fmla="val 9524"/>
            </a:avLst>
          </a:prstGeom>
          <a:solidFill>
            <a:schemeClr val="accent2"/>
          </a:solidFill>
          <a:ln w="25400">
            <a:solidFill>
              <a:schemeClr val="accent2"/>
            </a:solidFill>
            <a:prstDash val="solid"/>
          </a:ln>
        </p:spPr>
        <p:txBody>
          <a:bodyPr/>
          <a:lstStyle/>
          <a:p>
            <a:endParaRPr lang="fr-FR"/>
          </a:p>
        </p:txBody>
      </p:sp>
      <p:sp>
        <p:nvSpPr>
          <p:cNvPr id="7" name="Text 5"/>
          <p:cNvSpPr txBox="1"/>
          <p:nvPr/>
        </p:nvSpPr>
        <p:spPr>
          <a:xfrm>
            <a:off x="3520440" y="1508760"/>
            <a:ext cx="2377440" cy="960120"/>
          </a:xfrm>
          <a:prstGeom prst="rect">
            <a:avLst/>
          </a:prstGeom>
          <a:noFill/>
          <a:ln/>
        </p:spPr>
        <p:txBody>
          <a:bodyPr wrap="square" lIns="635" tIns="635" rIns="635" bIns="635" rtlCol="0" anchor="ctr"/>
          <a:lstStyle/>
          <a:p>
            <a:pPr marL="0" indent="0" algn="ctr">
              <a:buNone/>
            </a:pPr>
            <a:r>
              <a:rPr lang="en-US" sz="1600" b="1" dirty="0">
                <a:solidFill>
                  <a:schemeClr val="bg1"/>
                </a:solidFill>
              </a:rPr>
              <a:t>Gateway</a:t>
            </a:r>
            <a:endParaRPr lang="en-US" sz="1600" dirty="0"/>
          </a:p>
          <a:p>
            <a:pPr marL="0" indent="0" algn="ctr">
              <a:buNone/>
            </a:pPr>
            <a:r>
              <a:rPr lang="en-US" sz="1200" dirty="0">
                <a:solidFill>
                  <a:schemeClr val="bg1"/>
                </a:solidFill>
              </a:rPr>
              <a:t>:8082 · clé + quota</a:t>
            </a:r>
            <a:endParaRPr lang="en-US" sz="1600" dirty="0"/>
          </a:p>
        </p:txBody>
      </p:sp>
      <p:sp>
        <p:nvSpPr>
          <p:cNvPr id="8" name="boite-API FastAPI"/>
          <p:cNvSpPr/>
          <p:nvPr/>
        </p:nvSpPr>
        <p:spPr>
          <a:xfrm>
            <a:off x="6492240" y="1508760"/>
            <a:ext cx="2377440" cy="960120"/>
          </a:xfrm>
          <a:prstGeom prst="roundRect">
            <a:avLst>
              <a:gd name="adj" fmla="val 9524"/>
            </a:avLst>
          </a:prstGeom>
          <a:solidFill>
            <a:schemeClr val="bg1"/>
          </a:solidFill>
          <a:ln w="25400">
            <a:solidFill>
              <a:schemeClr val="accent1"/>
            </a:solidFill>
            <a:prstDash val="solid"/>
          </a:ln>
        </p:spPr>
        <p:txBody>
          <a:bodyPr/>
          <a:lstStyle/>
          <a:p>
            <a:endParaRPr lang="fr-FR"/>
          </a:p>
        </p:txBody>
      </p:sp>
      <p:sp>
        <p:nvSpPr>
          <p:cNvPr id="9" name="Text 7"/>
          <p:cNvSpPr txBox="1"/>
          <p:nvPr/>
        </p:nvSpPr>
        <p:spPr>
          <a:xfrm>
            <a:off x="6492240" y="1508760"/>
            <a:ext cx="2377440" cy="960120"/>
          </a:xfrm>
          <a:prstGeom prst="rect">
            <a:avLst/>
          </a:prstGeom>
          <a:noFill/>
          <a:ln/>
        </p:spPr>
        <p:txBody>
          <a:bodyPr wrap="square" lIns="635" tIns="635" rIns="635" bIns="635" rtlCol="0" anchor="ctr"/>
          <a:lstStyle/>
          <a:p>
            <a:pPr marL="0" indent="0" algn="ctr">
              <a:buNone/>
            </a:pPr>
            <a:r>
              <a:rPr lang="en-US" sz="1600" b="1" dirty="0">
                <a:solidFill>
                  <a:schemeClr val="tx1"/>
                </a:solidFill>
              </a:rPr>
              <a:t>API FastAPI</a:t>
            </a:r>
            <a:endParaRPr lang="en-US" sz="1600" dirty="0"/>
          </a:p>
          <a:p>
            <a:pPr marL="0" indent="0" algn="ctr">
              <a:buNone/>
            </a:pPr>
            <a:r>
              <a:rPr lang="en-US" sz="1200" dirty="0">
                <a:solidFill>
                  <a:schemeClr val="tx1"/>
                </a:solidFill>
              </a:rPr>
              <a:t>:8000 · /api/v1, /api/v2</a:t>
            </a:r>
            <a:endParaRPr lang="en-US" sz="1600" dirty="0"/>
          </a:p>
        </p:txBody>
      </p:sp>
      <p:sp>
        <p:nvSpPr>
          <p:cNvPr id="10" name="boite-PostgreSQL"/>
          <p:cNvSpPr/>
          <p:nvPr/>
        </p:nvSpPr>
        <p:spPr>
          <a:xfrm>
            <a:off x="9464040" y="1508760"/>
            <a:ext cx="2377440" cy="960120"/>
          </a:xfrm>
          <a:prstGeom prst="roundRect">
            <a:avLst>
              <a:gd name="adj" fmla="val 9524"/>
            </a:avLst>
          </a:prstGeom>
          <a:solidFill>
            <a:schemeClr val="bg1"/>
          </a:solidFill>
          <a:ln w="25400">
            <a:solidFill>
              <a:schemeClr val="accent1"/>
            </a:solidFill>
            <a:prstDash val="solid"/>
          </a:ln>
        </p:spPr>
        <p:txBody>
          <a:bodyPr/>
          <a:lstStyle/>
          <a:p>
            <a:endParaRPr lang="fr-FR"/>
          </a:p>
        </p:txBody>
      </p:sp>
      <p:sp>
        <p:nvSpPr>
          <p:cNvPr id="11" name="Text 9"/>
          <p:cNvSpPr txBox="1"/>
          <p:nvPr/>
        </p:nvSpPr>
        <p:spPr>
          <a:xfrm>
            <a:off x="9464040" y="1508760"/>
            <a:ext cx="2377440" cy="960120"/>
          </a:xfrm>
          <a:prstGeom prst="rect">
            <a:avLst/>
          </a:prstGeom>
          <a:noFill/>
          <a:ln/>
        </p:spPr>
        <p:txBody>
          <a:bodyPr wrap="square" lIns="635" tIns="635" rIns="635" bIns="635" rtlCol="0" anchor="ctr"/>
          <a:lstStyle/>
          <a:p>
            <a:pPr marL="0" indent="0" algn="ctr">
              <a:buNone/>
            </a:pPr>
            <a:r>
              <a:rPr lang="en-US" sz="1600" b="1" dirty="0">
                <a:solidFill>
                  <a:schemeClr val="tx1"/>
                </a:solidFill>
              </a:rPr>
              <a:t>PostgreSQL</a:t>
            </a:r>
            <a:endParaRPr lang="en-US" sz="1600" dirty="0"/>
          </a:p>
          <a:p>
            <a:pPr marL="0" indent="0" algn="ctr">
              <a:buNone/>
            </a:pPr>
            <a:r>
              <a:rPr lang="en-US" sz="1200" dirty="0">
                <a:solidFill>
                  <a:schemeClr val="tx1"/>
                </a:solidFill>
              </a:rPr>
              <a:t>:5433 · 40 structures</a:t>
            </a:r>
            <a:endParaRPr lang="en-US" sz="1600" dirty="0"/>
          </a:p>
        </p:txBody>
      </p:sp>
      <p:sp>
        <p:nvSpPr>
          <p:cNvPr id="12" name="boite-Portail"/>
          <p:cNvSpPr/>
          <p:nvPr/>
        </p:nvSpPr>
        <p:spPr>
          <a:xfrm>
            <a:off x="548640" y="3794760"/>
            <a:ext cx="2377440" cy="960120"/>
          </a:xfrm>
          <a:prstGeom prst="roundRect">
            <a:avLst>
              <a:gd name="adj" fmla="val 9524"/>
            </a:avLst>
          </a:prstGeom>
          <a:solidFill>
            <a:schemeClr val="bg1"/>
          </a:solidFill>
          <a:ln w="25400">
            <a:solidFill>
              <a:schemeClr val="accent2"/>
            </a:solidFill>
            <a:prstDash val="solid"/>
          </a:ln>
        </p:spPr>
        <p:txBody>
          <a:bodyPr/>
          <a:lstStyle/>
          <a:p>
            <a:endParaRPr lang="fr-FR"/>
          </a:p>
        </p:txBody>
      </p:sp>
      <p:sp>
        <p:nvSpPr>
          <p:cNvPr id="13" name="Text 11"/>
          <p:cNvSpPr txBox="1"/>
          <p:nvPr/>
        </p:nvSpPr>
        <p:spPr>
          <a:xfrm>
            <a:off x="548640" y="3794760"/>
            <a:ext cx="2377440" cy="960120"/>
          </a:xfrm>
          <a:prstGeom prst="rect">
            <a:avLst/>
          </a:prstGeom>
          <a:noFill/>
          <a:ln/>
        </p:spPr>
        <p:txBody>
          <a:bodyPr wrap="square" lIns="635" tIns="635" rIns="635" bIns="635" rtlCol="0" anchor="ctr"/>
          <a:lstStyle/>
          <a:p>
            <a:pPr marL="0" indent="0" algn="ctr">
              <a:buNone/>
            </a:pPr>
            <a:r>
              <a:rPr lang="en-US" sz="1600" b="1" dirty="0">
                <a:solidFill>
                  <a:schemeClr val="tx1"/>
                </a:solidFill>
              </a:rPr>
              <a:t>Portail</a:t>
            </a:r>
            <a:endParaRPr lang="en-US" sz="1600" dirty="0"/>
          </a:p>
          <a:p>
            <a:pPr marL="0" indent="0" algn="ctr">
              <a:buNone/>
            </a:pPr>
            <a:r>
              <a:rPr lang="en-US" sz="1200" dirty="0">
                <a:solidFill>
                  <a:schemeClr val="tx1"/>
                </a:solidFill>
              </a:rPr>
              <a:t>:8085 · développeurs</a:t>
            </a:r>
            <a:endParaRPr lang="en-US" sz="1600" dirty="0"/>
          </a:p>
        </p:txBody>
      </p:sp>
      <p:sp>
        <p:nvSpPr>
          <p:cNvPr id="14" name="boite-Console"/>
          <p:cNvSpPr/>
          <p:nvPr/>
        </p:nvSpPr>
        <p:spPr>
          <a:xfrm>
            <a:off x="3520440" y="3794760"/>
            <a:ext cx="2377440" cy="960120"/>
          </a:xfrm>
          <a:prstGeom prst="roundRect">
            <a:avLst>
              <a:gd name="adj" fmla="val 9524"/>
            </a:avLst>
          </a:prstGeom>
          <a:solidFill>
            <a:schemeClr val="bg1"/>
          </a:solidFill>
          <a:ln w="25400">
            <a:solidFill>
              <a:schemeClr val="accent2"/>
            </a:solidFill>
            <a:prstDash val="solid"/>
          </a:ln>
        </p:spPr>
        <p:txBody>
          <a:bodyPr/>
          <a:lstStyle/>
          <a:p>
            <a:endParaRPr lang="fr-FR"/>
          </a:p>
        </p:txBody>
      </p:sp>
      <p:sp>
        <p:nvSpPr>
          <p:cNvPr id="15" name="Text 13"/>
          <p:cNvSpPr txBox="1"/>
          <p:nvPr/>
        </p:nvSpPr>
        <p:spPr>
          <a:xfrm>
            <a:off x="3520440" y="3794760"/>
            <a:ext cx="2377440" cy="960120"/>
          </a:xfrm>
          <a:prstGeom prst="rect">
            <a:avLst/>
          </a:prstGeom>
          <a:noFill/>
          <a:ln/>
        </p:spPr>
        <p:txBody>
          <a:bodyPr wrap="square" lIns="635" tIns="635" rIns="635" bIns="635" rtlCol="0" anchor="ctr"/>
          <a:lstStyle/>
          <a:p>
            <a:pPr marL="0" indent="0" algn="ctr">
              <a:buNone/>
            </a:pPr>
            <a:r>
              <a:rPr lang="en-US" sz="1600" b="1" dirty="0">
                <a:solidFill>
                  <a:schemeClr val="tx1"/>
                </a:solidFill>
              </a:rPr>
              <a:t>Console</a:t>
            </a:r>
            <a:endParaRPr lang="en-US" sz="1600" dirty="0"/>
          </a:p>
          <a:p>
            <a:pPr marL="0" indent="0" algn="ctr">
              <a:buNone/>
            </a:pPr>
            <a:r>
              <a:rPr lang="en-US" sz="1200" dirty="0">
                <a:solidFill>
                  <a:schemeClr val="tx1"/>
                </a:solidFill>
              </a:rPr>
              <a:t>:8084 · administration</a:t>
            </a:r>
            <a:endParaRPr lang="en-US" sz="1600" dirty="0"/>
          </a:p>
        </p:txBody>
      </p:sp>
      <p:sp>
        <p:nvSpPr>
          <p:cNvPr id="16" name="boite-Management API"/>
          <p:cNvSpPr/>
          <p:nvPr/>
        </p:nvSpPr>
        <p:spPr>
          <a:xfrm>
            <a:off x="6492240" y="3794760"/>
            <a:ext cx="2377440" cy="960120"/>
          </a:xfrm>
          <a:prstGeom prst="roundRect">
            <a:avLst>
              <a:gd name="adj" fmla="val 9524"/>
            </a:avLst>
          </a:prstGeom>
          <a:solidFill>
            <a:schemeClr val="bg1"/>
          </a:solidFill>
          <a:ln w="25400">
            <a:solidFill>
              <a:schemeClr val="accent2"/>
            </a:solidFill>
            <a:prstDash val="solid"/>
          </a:ln>
        </p:spPr>
        <p:txBody>
          <a:bodyPr/>
          <a:lstStyle/>
          <a:p>
            <a:endParaRPr lang="fr-FR"/>
          </a:p>
        </p:txBody>
      </p:sp>
      <p:sp>
        <p:nvSpPr>
          <p:cNvPr id="17" name="Text 15"/>
          <p:cNvSpPr txBox="1"/>
          <p:nvPr/>
        </p:nvSpPr>
        <p:spPr>
          <a:xfrm>
            <a:off x="6492240" y="3794760"/>
            <a:ext cx="2377440" cy="960120"/>
          </a:xfrm>
          <a:prstGeom prst="rect">
            <a:avLst/>
          </a:prstGeom>
          <a:noFill/>
          <a:ln/>
        </p:spPr>
        <p:txBody>
          <a:bodyPr wrap="square" lIns="635" tIns="635" rIns="635" bIns="635" rtlCol="0" anchor="ctr"/>
          <a:lstStyle/>
          <a:p>
            <a:pPr marL="0" indent="0" algn="ctr">
              <a:buNone/>
            </a:pPr>
            <a:r>
              <a:rPr lang="en-US" sz="1600" b="1" dirty="0">
                <a:solidFill>
                  <a:schemeClr val="tx1"/>
                </a:solidFill>
              </a:rPr>
              <a:t>Management API</a:t>
            </a:r>
            <a:endParaRPr lang="en-US" sz="1600" dirty="0"/>
          </a:p>
          <a:p>
            <a:pPr marL="0" indent="0" algn="ctr">
              <a:buNone/>
            </a:pPr>
            <a:r>
              <a:rPr lang="en-US" sz="1200" dirty="0">
                <a:solidFill>
                  <a:schemeClr val="tx1"/>
                </a:solidFill>
              </a:rPr>
              <a:t>:8083</a:t>
            </a:r>
            <a:endParaRPr lang="en-US" sz="1600" dirty="0"/>
          </a:p>
        </p:txBody>
      </p:sp>
      <p:sp>
        <p:nvSpPr>
          <p:cNvPr id="18" name="boite-Stockage"/>
          <p:cNvSpPr/>
          <p:nvPr/>
        </p:nvSpPr>
        <p:spPr>
          <a:xfrm>
            <a:off x="9464040" y="3794760"/>
            <a:ext cx="2377440" cy="960120"/>
          </a:xfrm>
          <a:prstGeom prst="roundRect">
            <a:avLst>
              <a:gd name="adj" fmla="val 9524"/>
            </a:avLst>
          </a:prstGeom>
          <a:solidFill>
            <a:schemeClr val="bg1"/>
          </a:solidFill>
          <a:ln w="25400">
            <a:solidFill>
              <a:schemeClr val="accent2"/>
            </a:solidFill>
            <a:prstDash val="solid"/>
          </a:ln>
        </p:spPr>
        <p:txBody>
          <a:bodyPr/>
          <a:lstStyle/>
          <a:p>
            <a:endParaRPr lang="fr-FR"/>
          </a:p>
        </p:txBody>
      </p:sp>
      <p:sp>
        <p:nvSpPr>
          <p:cNvPr id="19" name="Text 17"/>
          <p:cNvSpPr txBox="1"/>
          <p:nvPr/>
        </p:nvSpPr>
        <p:spPr>
          <a:xfrm>
            <a:off x="9464040" y="3794760"/>
            <a:ext cx="2377440" cy="960120"/>
          </a:xfrm>
          <a:prstGeom prst="rect">
            <a:avLst/>
          </a:prstGeom>
          <a:noFill/>
          <a:ln/>
        </p:spPr>
        <p:txBody>
          <a:bodyPr wrap="square" lIns="635" tIns="635" rIns="635" bIns="635" rtlCol="0" anchor="ctr"/>
          <a:lstStyle/>
          <a:p>
            <a:pPr marL="0" indent="0" algn="ctr">
              <a:buNone/>
            </a:pPr>
            <a:r>
              <a:rPr lang="en-US" sz="1600" b="1" dirty="0">
                <a:solidFill>
                  <a:schemeClr val="tx1"/>
                </a:solidFill>
              </a:rPr>
              <a:t>Stockage</a:t>
            </a:r>
            <a:endParaRPr lang="en-US" sz="1600" dirty="0"/>
          </a:p>
          <a:p>
            <a:pPr marL="0" indent="0" algn="ctr">
              <a:buNone/>
            </a:pPr>
            <a:r>
              <a:rPr lang="en-US" sz="1200" dirty="0">
                <a:solidFill>
                  <a:schemeClr val="tx1"/>
                </a:solidFill>
              </a:rPr>
              <a:t>MongoDB + Elasticsearch</a:t>
            </a:r>
            <a:endParaRPr lang="en-US" sz="1600" dirty="0"/>
          </a:p>
        </p:txBody>
      </p:sp>
      <p:sp>
        <p:nvSpPr>
          <p:cNvPr id="20" name="fleche"/>
          <p:cNvSpPr/>
          <p:nvPr/>
        </p:nvSpPr>
        <p:spPr>
          <a:xfrm>
            <a:off x="2926080" y="1988820"/>
            <a:ext cx="594360" cy="0"/>
          </a:xfrm>
          <a:prstGeom prst="line">
            <a:avLst/>
          </a:prstGeom>
          <a:noFill/>
          <a:ln w="19050">
            <a:solidFill>
              <a:srgbClr val="5B6B70"/>
            </a:solidFill>
            <a:prstDash val="solid"/>
            <a:tailEnd type="triangle"/>
          </a:ln>
        </p:spPr>
        <p:txBody>
          <a:bodyPr/>
          <a:lstStyle/>
          <a:p>
            <a:endParaRPr lang="fr-FR"/>
          </a:p>
        </p:txBody>
      </p:sp>
      <p:sp>
        <p:nvSpPr>
          <p:cNvPr id="21" name="fleche"/>
          <p:cNvSpPr/>
          <p:nvPr/>
        </p:nvSpPr>
        <p:spPr>
          <a:xfrm>
            <a:off x="5897880" y="1988820"/>
            <a:ext cx="594360" cy="0"/>
          </a:xfrm>
          <a:prstGeom prst="line">
            <a:avLst/>
          </a:prstGeom>
          <a:noFill/>
          <a:ln w="19050">
            <a:solidFill>
              <a:srgbClr val="5B6B70"/>
            </a:solidFill>
            <a:prstDash val="solid"/>
            <a:tailEnd type="triangle"/>
          </a:ln>
        </p:spPr>
        <p:txBody>
          <a:bodyPr/>
          <a:lstStyle/>
          <a:p>
            <a:endParaRPr lang="fr-FR"/>
          </a:p>
        </p:txBody>
      </p:sp>
      <p:sp>
        <p:nvSpPr>
          <p:cNvPr id="22" name="fleche"/>
          <p:cNvSpPr/>
          <p:nvPr/>
        </p:nvSpPr>
        <p:spPr>
          <a:xfrm>
            <a:off x="8869680" y="1988820"/>
            <a:ext cx="594360" cy="0"/>
          </a:xfrm>
          <a:prstGeom prst="line">
            <a:avLst/>
          </a:prstGeom>
          <a:noFill/>
          <a:ln w="19050">
            <a:solidFill>
              <a:srgbClr val="5B6B70"/>
            </a:solidFill>
            <a:prstDash val="solid"/>
            <a:tailEnd type="triangle"/>
          </a:ln>
        </p:spPr>
        <p:txBody>
          <a:bodyPr/>
          <a:lstStyle/>
          <a:p>
            <a:endParaRPr lang="fr-FR"/>
          </a:p>
        </p:txBody>
      </p:sp>
      <p:sp>
        <p:nvSpPr>
          <p:cNvPr id="23" name="fleche"/>
          <p:cNvSpPr/>
          <p:nvPr/>
        </p:nvSpPr>
        <p:spPr>
          <a:xfrm>
            <a:off x="1737360" y="2468880"/>
            <a:ext cx="0" cy="1325880"/>
          </a:xfrm>
          <a:prstGeom prst="line">
            <a:avLst/>
          </a:prstGeom>
          <a:noFill/>
          <a:ln w="19050">
            <a:solidFill>
              <a:srgbClr val="5B6B70"/>
            </a:solidFill>
            <a:prstDash val="solid"/>
            <a:tailEnd type="triangle"/>
          </a:ln>
        </p:spPr>
        <p:txBody>
          <a:bodyPr/>
          <a:lstStyle/>
          <a:p>
            <a:endParaRPr lang="fr-FR"/>
          </a:p>
        </p:txBody>
      </p:sp>
      <p:sp>
        <p:nvSpPr>
          <p:cNvPr id="24" name="fleche"/>
          <p:cNvSpPr/>
          <p:nvPr/>
        </p:nvSpPr>
        <p:spPr>
          <a:xfrm>
            <a:off x="5897880" y="4274820"/>
            <a:ext cx="594360" cy="0"/>
          </a:xfrm>
          <a:prstGeom prst="line">
            <a:avLst/>
          </a:prstGeom>
          <a:noFill/>
          <a:ln w="19050">
            <a:solidFill>
              <a:srgbClr val="5B6B70"/>
            </a:solidFill>
            <a:prstDash val="solid"/>
            <a:tailEnd type="triangle"/>
          </a:ln>
        </p:spPr>
        <p:txBody>
          <a:bodyPr/>
          <a:lstStyle/>
          <a:p>
            <a:endParaRPr lang="fr-FR"/>
          </a:p>
        </p:txBody>
      </p:sp>
      <p:sp>
        <p:nvSpPr>
          <p:cNvPr id="25" name="fleche"/>
          <p:cNvSpPr/>
          <p:nvPr/>
        </p:nvSpPr>
        <p:spPr>
          <a:xfrm>
            <a:off x="8869680" y="4274820"/>
            <a:ext cx="594360" cy="0"/>
          </a:xfrm>
          <a:prstGeom prst="line">
            <a:avLst/>
          </a:prstGeom>
          <a:noFill/>
          <a:ln w="19050">
            <a:solidFill>
              <a:srgbClr val="5B6B70"/>
            </a:solidFill>
            <a:prstDash val="solid"/>
            <a:tailEnd type="triangle"/>
          </a:ln>
        </p:spPr>
        <p:txBody>
          <a:bodyPr/>
          <a:lstStyle/>
          <a:p>
            <a:endParaRPr lang="fr-FR"/>
          </a:p>
        </p:txBody>
      </p:sp>
      <p:sp>
        <p:nvSpPr>
          <p:cNvPr id="26" name="fleche"/>
          <p:cNvSpPr/>
          <p:nvPr/>
        </p:nvSpPr>
        <p:spPr>
          <a:xfrm flipV="1">
            <a:off x="7680960" y="3108960"/>
            <a:ext cx="0" cy="685800"/>
          </a:xfrm>
          <a:prstGeom prst="line">
            <a:avLst/>
          </a:prstGeom>
          <a:noFill/>
          <a:ln w="19050">
            <a:solidFill>
              <a:srgbClr val="5B6B70"/>
            </a:solidFill>
            <a:prstDash val="solid"/>
          </a:ln>
        </p:spPr>
        <p:txBody>
          <a:bodyPr/>
          <a:lstStyle/>
          <a:p>
            <a:endParaRPr lang="fr-FR"/>
          </a:p>
        </p:txBody>
      </p:sp>
      <p:sp>
        <p:nvSpPr>
          <p:cNvPr id="27" name="fleche"/>
          <p:cNvSpPr/>
          <p:nvPr/>
        </p:nvSpPr>
        <p:spPr>
          <a:xfrm flipH="1">
            <a:off x="5257800" y="3108960"/>
            <a:ext cx="2423160" cy="0"/>
          </a:xfrm>
          <a:prstGeom prst="line">
            <a:avLst/>
          </a:prstGeom>
          <a:noFill/>
          <a:ln w="19050">
            <a:solidFill>
              <a:srgbClr val="5B6B70"/>
            </a:solidFill>
            <a:prstDash val="solid"/>
          </a:ln>
        </p:spPr>
        <p:txBody>
          <a:bodyPr/>
          <a:lstStyle/>
          <a:p>
            <a:endParaRPr lang="fr-FR"/>
          </a:p>
        </p:txBody>
      </p:sp>
      <p:sp>
        <p:nvSpPr>
          <p:cNvPr id="28" name="fleche"/>
          <p:cNvSpPr/>
          <p:nvPr/>
        </p:nvSpPr>
        <p:spPr>
          <a:xfrm flipV="1">
            <a:off x="5257800" y="2468880"/>
            <a:ext cx="0" cy="640080"/>
          </a:xfrm>
          <a:prstGeom prst="line">
            <a:avLst/>
          </a:prstGeom>
          <a:noFill/>
          <a:ln w="19050">
            <a:solidFill>
              <a:srgbClr val="5B6B70"/>
            </a:solidFill>
            <a:prstDash val="solid"/>
            <a:tailEnd type="triangle"/>
          </a:ln>
        </p:spPr>
        <p:txBody>
          <a:bodyPr/>
          <a:lstStyle/>
          <a:p>
            <a:endParaRPr lang="fr-FR"/>
          </a:p>
        </p:txBody>
      </p:sp>
      <p:sp>
        <p:nvSpPr>
          <p:cNvPr id="29" name="Text 27"/>
          <p:cNvSpPr txBox="1"/>
          <p:nvPr/>
        </p:nvSpPr>
        <p:spPr>
          <a:xfrm>
            <a:off x="5349240" y="2761488"/>
            <a:ext cx="2194560" cy="292608"/>
          </a:xfrm>
          <a:prstGeom prst="rect">
            <a:avLst/>
          </a:prstGeom>
          <a:noFill/>
          <a:ln/>
        </p:spPr>
        <p:txBody>
          <a:bodyPr wrap="square" lIns="0" tIns="0" rIns="0" bIns="0" rtlCol="0" anchor="ctr"/>
          <a:lstStyle/>
          <a:p>
            <a:pPr marL="0" indent="0">
              <a:buNone/>
            </a:pPr>
            <a:r>
              <a:rPr lang="en-US" sz="1200" dirty="0">
                <a:solidFill>
                  <a:schemeClr val="accent6"/>
                </a:solidFill>
              </a:rPr>
              <a:t>déploie API et plans</a:t>
            </a:r>
            <a:endParaRPr lang="en-US" sz="1200" dirty="0"/>
          </a:p>
        </p:txBody>
      </p:sp>
      <p:sp>
        <p:nvSpPr>
          <p:cNvPr id="30" name="Text 28"/>
          <p:cNvSpPr txBox="1"/>
          <p:nvPr/>
        </p:nvSpPr>
        <p:spPr>
          <a:xfrm>
            <a:off x="1847088" y="2788920"/>
            <a:ext cx="1463040" cy="292608"/>
          </a:xfrm>
          <a:prstGeom prst="rect">
            <a:avLst/>
          </a:prstGeom>
          <a:noFill/>
          <a:ln/>
        </p:spPr>
        <p:txBody>
          <a:bodyPr wrap="square" lIns="0" tIns="0" rIns="0" bIns="0" rtlCol="0" anchor="ctr"/>
          <a:lstStyle/>
          <a:p>
            <a:pPr marL="0" indent="0">
              <a:buNone/>
            </a:pPr>
            <a:r>
              <a:rPr lang="en-US" sz="1200" dirty="0">
                <a:solidFill>
                  <a:schemeClr val="accent6"/>
                </a:solidFill>
              </a:rPr>
              <a:t>obtient sa clé</a:t>
            </a:r>
            <a:endParaRPr lang="en-US" sz="1200" dirty="0"/>
          </a:p>
        </p:txBody>
      </p:sp>
      <p:sp>
        <p:nvSpPr>
          <p:cNvPr id="31" name="Shape 29"/>
          <p:cNvSpPr/>
          <p:nvPr/>
        </p:nvSpPr>
        <p:spPr>
          <a:xfrm>
            <a:off x="548640" y="5257800"/>
            <a:ext cx="320040" cy="274320"/>
          </a:xfrm>
          <a:prstGeom prst="roundRect">
            <a:avLst>
              <a:gd name="adj" fmla="val 16667"/>
            </a:avLst>
          </a:prstGeom>
          <a:solidFill>
            <a:schemeClr val="bg1"/>
          </a:solidFill>
          <a:ln w="25400">
            <a:solidFill>
              <a:schemeClr val="accent2"/>
            </a:solidFill>
            <a:prstDash val="solid"/>
          </a:ln>
        </p:spPr>
        <p:txBody>
          <a:bodyPr/>
          <a:lstStyle/>
          <a:p>
            <a:endParaRPr lang="fr-FR"/>
          </a:p>
        </p:txBody>
      </p:sp>
      <p:sp>
        <p:nvSpPr>
          <p:cNvPr id="32" name="Text 30"/>
          <p:cNvSpPr txBox="1"/>
          <p:nvPr/>
        </p:nvSpPr>
        <p:spPr>
          <a:xfrm>
            <a:off x="960120" y="5239512"/>
            <a:ext cx="3840480" cy="310896"/>
          </a:xfrm>
          <a:prstGeom prst="rect">
            <a:avLst/>
          </a:prstGeom>
          <a:noFill/>
          <a:ln/>
        </p:spPr>
        <p:txBody>
          <a:bodyPr wrap="square" lIns="0" tIns="0" rIns="0" bIns="0" rtlCol="0" anchor="ctr"/>
          <a:lstStyle/>
          <a:p>
            <a:pPr marL="0" indent="0">
              <a:buNone/>
            </a:pPr>
            <a:r>
              <a:rPr lang="en-US" sz="1300" dirty="0">
                <a:solidFill>
                  <a:schemeClr val="tx1"/>
                </a:solidFill>
              </a:rPr>
              <a:t>Gravitee APIM 4.12 (Community Edition)</a:t>
            </a:r>
            <a:endParaRPr lang="en-US" sz="1300" dirty="0"/>
          </a:p>
        </p:txBody>
      </p:sp>
      <p:sp>
        <p:nvSpPr>
          <p:cNvPr id="33" name="Shape 31"/>
          <p:cNvSpPr/>
          <p:nvPr/>
        </p:nvSpPr>
        <p:spPr>
          <a:xfrm>
            <a:off x="4846320" y="5257800"/>
            <a:ext cx="320040" cy="274320"/>
          </a:xfrm>
          <a:prstGeom prst="roundRect">
            <a:avLst>
              <a:gd name="adj" fmla="val 16667"/>
            </a:avLst>
          </a:prstGeom>
          <a:solidFill>
            <a:schemeClr val="bg1"/>
          </a:solidFill>
          <a:ln w="25400">
            <a:solidFill>
              <a:schemeClr val="accent1"/>
            </a:solidFill>
            <a:prstDash val="solid"/>
          </a:ln>
        </p:spPr>
        <p:txBody>
          <a:bodyPr/>
          <a:lstStyle/>
          <a:p>
            <a:endParaRPr lang="fr-FR"/>
          </a:p>
        </p:txBody>
      </p:sp>
      <p:sp>
        <p:nvSpPr>
          <p:cNvPr id="34" name="Text 32"/>
          <p:cNvSpPr txBox="1"/>
          <p:nvPr/>
        </p:nvSpPr>
        <p:spPr>
          <a:xfrm>
            <a:off x="5257800" y="5239512"/>
            <a:ext cx="1828800" cy="310896"/>
          </a:xfrm>
          <a:prstGeom prst="rect">
            <a:avLst/>
          </a:prstGeom>
          <a:noFill/>
          <a:ln/>
        </p:spPr>
        <p:txBody>
          <a:bodyPr wrap="square" lIns="0" tIns="0" rIns="0" bIns="0" rtlCol="0" anchor="ctr"/>
          <a:lstStyle/>
          <a:p>
            <a:pPr marL="0" indent="0">
              <a:buNone/>
            </a:pPr>
            <a:r>
              <a:rPr lang="en-US" sz="1300" dirty="0">
                <a:solidFill>
                  <a:schemeClr val="tx1"/>
                </a:solidFill>
              </a:rPr>
              <a:t>Notre projet</a:t>
            </a:r>
            <a:endParaRPr lang="en-US" sz="1300" dirty="0"/>
          </a:p>
        </p:txBody>
      </p:sp>
      <p:sp>
        <p:nvSpPr>
          <p:cNvPr id="35" name="Text 33"/>
          <p:cNvSpPr txBox="1"/>
          <p:nvPr/>
        </p:nvSpPr>
        <p:spPr>
          <a:xfrm>
            <a:off x="548640" y="5760720"/>
            <a:ext cx="11155680" cy="365760"/>
          </a:xfrm>
          <a:prstGeom prst="rect">
            <a:avLst/>
          </a:prstGeom>
          <a:noFill/>
          <a:ln/>
        </p:spPr>
        <p:txBody>
          <a:bodyPr wrap="square" lIns="0" tIns="0" rIns="0" bIns="0" rtlCol="0" anchor="ctr"/>
          <a:lstStyle/>
          <a:p>
            <a:pPr marL="0" indent="0">
              <a:buNone/>
            </a:pPr>
            <a:r>
              <a:rPr lang="en-US" sz="1500" dirty="0">
                <a:solidFill>
                  <a:schemeClr val="tx1"/>
                </a:solidFill>
              </a:rPr>
              <a:t>8 conteneurs Docker, une seule commande : </a:t>
            </a:r>
            <a:r>
              <a:rPr lang="en-US" sz="1500" b="1" dirty="0">
                <a:solidFill>
                  <a:schemeClr val="tx2"/>
                </a:solidFill>
                <a:latin typeface="Courier New" pitchFamily="34" charset="0"/>
                <a:ea typeface="Courier New" pitchFamily="34" charset="-122"/>
                <a:cs typeface="Courier New" pitchFamily="34" charset="-120"/>
              </a:rPr>
              <a:t>docker compose up -d --build</a:t>
            </a:r>
            <a:endParaRPr lang="en-US" sz="1500" dirty="0"/>
          </a:p>
        </p:txBody>
      </p:sp>
      <p:sp>
        <p:nvSpPr>
          <p:cNvPr id="36"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Modèle de données et API FastAPI</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KAZIENGA Eva B.</a:t>
            </a:r>
            <a:endParaRPr lang="en-US" sz="1200" dirty="0"/>
          </a:p>
        </p:txBody>
      </p:sp>
      <p:sp>
        <p:nvSpPr>
          <p:cNvPr id="4" name="Text 2"/>
          <p:cNvSpPr txBox="1"/>
          <p:nvPr/>
        </p:nvSpPr>
        <p:spPr>
          <a:xfrm>
            <a:off x="457200" y="1325880"/>
            <a:ext cx="1143000" cy="914400"/>
          </a:xfrm>
          <a:prstGeom prst="rect">
            <a:avLst/>
          </a:prstGeom>
          <a:noFill/>
          <a:ln/>
        </p:spPr>
        <p:txBody>
          <a:bodyPr wrap="square" lIns="0" tIns="0" rIns="0" bIns="0" rtlCol="0" anchor="ctr"/>
          <a:lstStyle/>
          <a:p>
            <a:pPr marL="0" indent="0">
              <a:buNone/>
            </a:pPr>
            <a:r>
              <a:rPr lang="en-US" sz="5400" b="1" dirty="0">
                <a:solidFill>
                  <a:schemeClr val="accent1"/>
                </a:solidFill>
              </a:rPr>
              <a:t>40</a:t>
            </a:r>
            <a:endParaRPr lang="en-US" sz="5400" dirty="0"/>
          </a:p>
        </p:txBody>
      </p:sp>
      <p:sp>
        <p:nvSpPr>
          <p:cNvPr id="5" name="Text 3"/>
          <p:cNvSpPr txBox="1"/>
          <p:nvPr/>
        </p:nvSpPr>
        <p:spPr>
          <a:xfrm>
            <a:off x="1645920" y="1325880"/>
            <a:ext cx="2423160" cy="914400"/>
          </a:xfrm>
          <a:prstGeom prst="rect">
            <a:avLst/>
          </a:prstGeom>
          <a:noFill/>
          <a:ln/>
        </p:spPr>
        <p:txBody>
          <a:bodyPr wrap="square" lIns="0" tIns="0" rIns="0" bIns="0" rtlCol="0" anchor="ctr"/>
          <a:lstStyle/>
          <a:p>
            <a:pPr marL="0" indent="0">
              <a:buNone/>
            </a:pPr>
            <a:r>
              <a:rPr lang="en-US" sz="1500" dirty="0">
                <a:solidFill>
                  <a:schemeClr val="tx1"/>
                </a:solidFill>
              </a:rPr>
              <a:t>structures fictives</a:t>
            </a:r>
            <a:endParaRPr lang="en-US" sz="1500" dirty="0"/>
          </a:p>
        </p:txBody>
      </p:sp>
      <p:sp>
        <p:nvSpPr>
          <p:cNvPr id="6" name="Text 4"/>
          <p:cNvSpPr txBox="1"/>
          <p:nvPr/>
        </p:nvSpPr>
        <p:spPr>
          <a:xfrm>
            <a:off x="4251960" y="1325880"/>
            <a:ext cx="1143000" cy="914400"/>
          </a:xfrm>
          <a:prstGeom prst="rect">
            <a:avLst/>
          </a:prstGeom>
          <a:noFill/>
          <a:ln/>
        </p:spPr>
        <p:txBody>
          <a:bodyPr wrap="square" lIns="0" tIns="0" rIns="0" bIns="0" rtlCol="0" anchor="ctr"/>
          <a:lstStyle/>
          <a:p>
            <a:pPr marL="0" indent="0">
              <a:buNone/>
            </a:pPr>
            <a:r>
              <a:rPr lang="en-US" sz="5400" b="1" dirty="0">
                <a:solidFill>
                  <a:schemeClr val="accent1"/>
                </a:solidFill>
              </a:rPr>
              <a:t>13</a:t>
            </a:r>
            <a:endParaRPr lang="en-US" sz="5400" dirty="0"/>
          </a:p>
        </p:txBody>
      </p:sp>
      <p:sp>
        <p:nvSpPr>
          <p:cNvPr id="7" name="Text 5"/>
          <p:cNvSpPr txBox="1"/>
          <p:nvPr/>
        </p:nvSpPr>
        <p:spPr>
          <a:xfrm>
            <a:off x="5440680" y="1325880"/>
            <a:ext cx="2423160" cy="914400"/>
          </a:xfrm>
          <a:prstGeom prst="rect">
            <a:avLst/>
          </a:prstGeom>
          <a:noFill/>
          <a:ln/>
        </p:spPr>
        <p:txBody>
          <a:bodyPr wrap="square" lIns="0" tIns="0" rIns="0" bIns="0" rtlCol="0" anchor="ctr"/>
          <a:lstStyle/>
          <a:p>
            <a:pPr marL="0" indent="0">
              <a:buNone/>
            </a:pPr>
            <a:r>
              <a:rPr lang="en-US" sz="1500" dirty="0">
                <a:solidFill>
                  <a:schemeClr val="tx1"/>
                </a:solidFill>
              </a:rPr>
              <a:t>régions</a:t>
            </a:r>
            <a:endParaRPr lang="en-US" sz="1500" dirty="0"/>
          </a:p>
        </p:txBody>
      </p:sp>
      <p:sp>
        <p:nvSpPr>
          <p:cNvPr id="8" name="Text 6"/>
          <p:cNvSpPr txBox="1"/>
          <p:nvPr/>
        </p:nvSpPr>
        <p:spPr>
          <a:xfrm>
            <a:off x="8046720" y="1325880"/>
            <a:ext cx="1143000" cy="914400"/>
          </a:xfrm>
          <a:prstGeom prst="rect">
            <a:avLst/>
          </a:prstGeom>
          <a:noFill/>
          <a:ln/>
        </p:spPr>
        <p:txBody>
          <a:bodyPr wrap="square" lIns="0" tIns="0" rIns="0" bIns="0" rtlCol="0" anchor="ctr"/>
          <a:lstStyle/>
          <a:p>
            <a:pPr marL="0" indent="0">
              <a:buNone/>
            </a:pPr>
            <a:r>
              <a:rPr lang="en-US" sz="5400" b="1" dirty="0">
                <a:solidFill>
                  <a:schemeClr val="accent1"/>
                </a:solidFill>
              </a:rPr>
              <a:t>5</a:t>
            </a:r>
            <a:endParaRPr lang="en-US" sz="5400" dirty="0"/>
          </a:p>
        </p:txBody>
      </p:sp>
      <p:sp>
        <p:nvSpPr>
          <p:cNvPr id="9" name="Text 7"/>
          <p:cNvSpPr txBox="1"/>
          <p:nvPr/>
        </p:nvSpPr>
        <p:spPr>
          <a:xfrm>
            <a:off x="9235440" y="1325880"/>
            <a:ext cx="2423160" cy="914400"/>
          </a:xfrm>
          <a:prstGeom prst="rect">
            <a:avLst/>
          </a:prstGeom>
          <a:noFill/>
          <a:ln/>
        </p:spPr>
        <p:txBody>
          <a:bodyPr wrap="square" lIns="0" tIns="0" rIns="0" bIns="0" rtlCol="0" anchor="ctr"/>
          <a:lstStyle/>
          <a:p>
            <a:pPr marL="0" indent="0">
              <a:buNone/>
            </a:pPr>
            <a:r>
              <a:rPr lang="en-US" sz="1500" dirty="0">
                <a:solidFill>
                  <a:schemeClr val="tx1"/>
                </a:solidFill>
              </a:rPr>
              <a:t>types : CHU, CHR, CMA, CSPS, clinique</a:t>
            </a:r>
            <a:endParaRPr lang="en-US" sz="1500" dirty="0"/>
          </a:p>
        </p:txBody>
      </p:sp>
      <p:sp>
        <p:nvSpPr>
          <p:cNvPr id="10" name="Text 8"/>
          <p:cNvSpPr txBox="1"/>
          <p:nvPr/>
        </p:nvSpPr>
        <p:spPr>
          <a:xfrm>
            <a:off x="457200" y="2606040"/>
            <a:ext cx="4754880" cy="365760"/>
          </a:xfrm>
          <a:prstGeom prst="rect">
            <a:avLst/>
          </a:prstGeom>
          <a:noFill/>
          <a:ln/>
        </p:spPr>
        <p:txBody>
          <a:bodyPr wrap="square" lIns="0" tIns="0" rIns="0" bIns="0" rtlCol="0" anchor="ctr"/>
          <a:lstStyle/>
          <a:p>
            <a:pPr marL="0" indent="0">
              <a:buNone/>
            </a:pPr>
            <a:r>
              <a:rPr lang="en-US" sz="1800" b="1" dirty="0">
                <a:solidFill>
                  <a:schemeClr val="tx2"/>
                </a:solidFill>
              </a:rPr>
              <a:t>Table structures_sanitaires (PostgreSQL)</a:t>
            </a:r>
            <a:endParaRPr lang="en-US" sz="1800" dirty="0"/>
          </a:p>
        </p:txBody>
      </p:sp>
      <p:sp>
        <p:nvSpPr>
          <p:cNvPr id="11" name="code"/>
          <p:cNvSpPr txBox="1"/>
          <p:nvPr/>
        </p:nvSpPr>
        <p:spPr>
          <a:xfrm>
            <a:off x="457200" y="3063240"/>
            <a:ext cx="5120640" cy="2788920"/>
          </a:xfrm>
          <a:prstGeom prst="roundRect">
            <a:avLst>
              <a:gd name="adj" fmla="val 3279"/>
            </a:avLst>
          </a:prstGeom>
          <a:solidFill>
            <a:schemeClr val="tx1"/>
          </a:solidFill>
          <a:ln>
            <a:solidFill>
              <a:schemeClr val="tx1"/>
            </a:solidFill>
          </a:ln>
        </p:spPr>
        <p:txBody>
          <a:bodyPr wrap="square" lIns="127000" tIns="152400" rIns="152400" bIns="127000" rtlCol="0" anchor="t"/>
          <a:lstStyle/>
          <a:p>
            <a:pPr marL="0" indent="0">
              <a:buNone/>
            </a:pPr>
            <a:r>
              <a:rPr lang="en-US" sz="1300" dirty="0">
                <a:solidFill>
                  <a:schemeClr val="bg2"/>
                </a:solidFill>
                <a:latin typeface="Courier New" pitchFamily="34" charset="0"/>
                <a:ea typeface="Courier New" pitchFamily="34" charset="-122"/>
                <a:cs typeface="Courier New" pitchFamily="34" charset="-120"/>
              </a:rPr>
              <a:t>id            SERIAL       clé primaire</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code          VARCHAR(20)  unique</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nom           VARCHAR(150)</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type          CHECK  CHU|CHR|CMA|CSPS|CLINIQUE</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statut        CHECK  PUBLIC|PRIVE</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region, ville VARCHAR      indexées</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nombre_lits   INTEGER ≥ 0</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telephone     VARCHAR(20)</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services      TEXT[]</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date_ouverture DATE</a:t>
            </a:r>
            <a:endParaRPr lang="en-US" sz="1300" dirty="0"/>
          </a:p>
        </p:txBody>
      </p:sp>
      <p:sp>
        <p:nvSpPr>
          <p:cNvPr id="12" name="Text 10"/>
          <p:cNvSpPr txBox="1"/>
          <p:nvPr/>
        </p:nvSpPr>
        <p:spPr>
          <a:xfrm>
            <a:off x="6035040" y="2606040"/>
            <a:ext cx="5669280" cy="365760"/>
          </a:xfrm>
          <a:prstGeom prst="rect">
            <a:avLst/>
          </a:prstGeom>
          <a:noFill/>
          <a:ln/>
        </p:spPr>
        <p:txBody>
          <a:bodyPr wrap="square" lIns="0" tIns="0" rIns="0" bIns="0" rtlCol="0" anchor="ctr"/>
          <a:lstStyle/>
          <a:p>
            <a:pPr marL="0" indent="0">
              <a:buNone/>
            </a:pPr>
            <a:r>
              <a:rPr lang="en-US" sz="1800" b="1" dirty="0">
                <a:solidFill>
                  <a:schemeClr val="tx2"/>
                </a:solidFill>
              </a:rPr>
              <a:t>Routes exposées (lecture seule)</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35040" y="3063240"/>
          <a:ext cx="5669280" cy="2103120"/>
        </p:xfrm>
        <a:graphic>
          <a:graphicData uri="http://schemas.openxmlformats.org/drawingml/2006/table">
            <a:tbl>
              <a:tblPr/>
              <a:tblGrid>
                <a:gridCol w="2926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420624">
                <a:tc>
                  <a:txBody>
                    <a:bodyPr/>
                    <a:lstStyle/>
                    <a:p>
                      <a:pPr marL="0" indent="0">
                        <a:buNone/>
                      </a:pPr>
                      <a:r>
                        <a:rPr lang="en-US" sz="1400" b="1" dirty="0">
                          <a:solidFill>
                            <a:schemeClr val="bg1"/>
                          </a:solidFill>
                        </a:rPr>
                        <a:t>Route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Rôle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0624">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GET /structures</a:t>
                      </a:r>
                      <a:endParaRPr lang="en-US" sz="14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Liste paginée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0624">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GET /structures/search</a:t>
                      </a:r>
                      <a:endParaRPr lang="en-US" sz="14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Recherche paginée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0624">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GET /structures/{id}</a:t>
                      </a:r>
                      <a:endParaRPr lang="en-US" sz="14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Détail d'une structure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0624">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GET /health</a:t>
                      </a:r>
                      <a:endParaRPr lang="en-US" sz="14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État du service et de la base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4" name="Text 11"/>
          <p:cNvSpPr txBox="1"/>
          <p:nvPr/>
        </p:nvSpPr>
        <p:spPr>
          <a:xfrm>
            <a:off x="6035040" y="5349240"/>
            <a:ext cx="5669280" cy="731520"/>
          </a:xfrm>
          <a:prstGeom prst="rect">
            <a:avLst/>
          </a:prstGeom>
          <a:noFill/>
          <a:ln/>
        </p:spPr>
        <p:txBody>
          <a:bodyPr wrap="square" lIns="0" tIns="0" rIns="0" bIns="0" rtlCol="0" anchor="ctr"/>
          <a:lstStyle/>
          <a:p>
            <a:pPr marL="0" indent="0">
              <a:buNone/>
            </a:pPr>
            <a:r>
              <a:rPr lang="en-US" sz="1300" dirty="0">
                <a:solidFill>
                  <a:schemeClr val="accent6"/>
                </a:solidFill>
              </a:rPr>
              <a:t>Base créée et remplie automatiquement au premier démarrage par 01_schema.sql et 02_seed.sql.</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Pagination et recherche</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KAZIENGA Eva B.</a:t>
            </a:r>
            <a:endParaRPr lang="en-US" sz="1200" dirty="0"/>
          </a:p>
        </p:txBody>
      </p:sp>
      <p:sp>
        <p:nvSpPr>
          <p:cNvPr id="4" name="icone-FaListOl"/>
          <p:cNvSpPr/>
          <p:nvPr/>
        </p:nvSpPr>
        <p:spPr>
          <a:xfrm>
            <a:off x="457200" y="1417320"/>
            <a:ext cx="685800" cy="685800"/>
          </a:xfrm>
          <a:prstGeom prst="ellipse">
            <a:avLst/>
          </a:prstGeom>
          <a:solidFill>
            <a:schemeClr val="accent1"/>
          </a:solidFill>
          <a:ln w="12700">
            <a:solidFill>
              <a:schemeClr val="accent1"/>
            </a:solidFill>
            <a:prstDash val="solid"/>
          </a:ln>
        </p:spPr>
        <p:txBody>
          <a:bodyPr/>
          <a:lstStyle/>
          <a:p>
            <a:endParaRPr lang="fr-FR"/>
          </a:p>
        </p:txBody>
      </p:sp>
      <p:pic>
        <p:nvPicPr>
          <p:cNvPr id="5" name="Image 0" descr="FaListOl"/>
          <p:cNvPicPr>
            <a:picLocks noChangeAspect="1"/>
          </p:cNvPicPr>
          <p:nvPr/>
        </p:nvPicPr>
        <p:blipFill>
          <a:blip r:embed="rId3"/>
          <a:stretch>
            <a:fillRect/>
          </a:stretch>
        </p:blipFill>
        <p:spPr>
          <a:xfrm>
            <a:off x="649224" y="1609344"/>
            <a:ext cx="301752" cy="301752"/>
          </a:xfrm>
          <a:prstGeom prst="rect">
            <a:avLst/>
          </a:prstGeom>
        </p:spPr>
      </p:pic>
      <p:sp>
        <p:nvSpPr>
          <p:cNvPr id="6" name="Text 3"/>
          <p:cNvSpPr txBox="1"/>
          <p:nvPr/>
        </p:nvSpPr>
        <p:spPr>
          <a:xfrm>
            <a:off x="1325880" y="1417320"/>
            <a:ext cx="3840480" cy="365760"/>
          </a:xfrm>
          <a:prstGeom prst="rect">
            <a:avLst/>
          </a:prstGeom>
          <a:noFill/>
          <a:ln/>
        </p:spPr>
        <p:txBody>
          <a:bodyPr wrap="square" lIns="0" tIns="0" rIns="0" bIns="0" rtlCol="0" anchor="ctr"/>
          <a:lstStyle/>
          <a:p>
            <a:pPr marL="0" indent="0">
              <a:buNone/>
            </a:pPr>
            <a:r>
              <a:rPr lang="en-US" sz="1800" b="1" dirty="0">
                <a:solidFill>
                  <a:schemeClr val="tx2"/>
                </a:solidFill>
              </a:rPr>
              <a:t>Pagination</a:t>
            </a:r>
            <a:endParaRPr lang="en-US" sz="1800" dirty="0"/>
          </a:p>
        </p:txBody>
      </p:sp>
      <p:sp>
        <p:nvSpPr>
          <p:cNvPr id="7" name="Text 4"/>
          <p:cNvSpPr txBox="1"/>
          <p:nvPr/>
        </p:nvSpPr>
        <p:spPr>
          <a:xfrm>
            <a:off x="1325880" y="1801368"/>
            <a:ext cx="3931920" cy="914400"/>
          </a:xfrm>
          <a:prstGeom prst="rect">
            <a:avLst/>
          </a:prstGeom>
          <a:noFill/>
          <a:ln/>
        </p:spPr>
        <p:txBody>
          <a:bodyPr wrap="square" lIns="0" tIns="0" rIns="0" bIns="0" rtlCol="0" anchor="t"/>
          <a:lstStyle/>
          <a:p>
            <a:pPr marL="0" indent="0">
              <a:buNone/>
            </a:pPr>
            <a:r>
              <a:rPr lang="en-US" sz="1500" dirty="0">
                <a:solidFill>
                  <a:schemeClr val="tx1"/>
                </a:solidFill>
              </a:rPr>
              <a:t>page ≥ 1 et size entre 1 et 100 ; la réponse indique le total et le nombre de pages</a:t>
            </a:r>
            <a:endParaRPr lang="en-US" sz="1500" dirty="0"/>
          </a:p>
        </p:txBody>
      </p:sp>
      <p:sp>
        <p:nvSpPr>
          <p:cNvPr id="8" name="icone-FaSearch"/>
          <p:cNvSpPr/>
          <p:nvPr/>
        </p:nvSpPr>
        <p:spPr>
          <a:xfrm>
            <a:off x="457200" y="2880360"/>
            <a:ext cx="685800" cy="685800"/>
          </a:xfrm>
          <a:prstGeom prst="ellipse">
            <a:avLst/>
          </a:prstGeom>
          <a:solidFill>
            <a:schemeClr val="accent1"/>
          </a:solidFill>
          <a:ln w="12700">
            <a:solidFill>
              <a:schemeClr val="accent1"/>
            </a:solidFill>
            <a:prstDash val="solid"/>
          </a:ln>
        </p:spPr>
        <p:txBody>
          <a:bodyPr/>
          <a:lstStyle/>
          <a:p>
            <a:endParaRPr lang="fr-FR"/>
          </a:p>
        </p:txBody>
      </p:sp>
      <p:pic>
        <p:nvPicPr>
          <p:cNvPr id="9" name="Image 1" descr="FaSearch"/>
          <p:cNvPicPr>
            <a:picLocks noChangeAspect="1"/>
          </p:cNvPicPr>
          <p:nvPr/>
        </p:nvPicPr>
        <p:blipFill>
          <a:blip r:embed="rId4"/>
          <a:stretch>
            <a:fillRect/>
          </a:stretch>
        </p:blipFill>
        <p:spPr>
          <a:xfrm>
            <a:off x="649224" y="3072384"/>
            <a:ext cx="301752" cy="301752"/>
          </a:xfrm>
          <a:prstGeom prst="rect">
            <a:avLst/>
          </a:prstGeom>
        </p:spPr>
      </p:pic>
      <p:sp>
        <p:nvSpPr>
          <p:cNvPr id="10" name="Text 6"/>
          <p:cNvSpPr txBox="1"/>
          <p:nvPr/>
        </p:nvSpPr>
        <p:spPr>
          <a:xfrm>
            <a:off x="1325880" y="2880360"/>
            <a:ext cx="3840480" cy="365760"/>
          </a:xfrm>
          <a:prstGeom prst="rect">
            <a:avLst/>
          </a:prstGeom>
          <a:noFill/>
          <a:ln/>
        </p:spPr>
        <p:txBody>
          <a:bodyPr wrap="square" lIns="0" tIns="0" rIns="0" bIns="0" rtlCol="0" anchor="ctr"/>
          <a:lstStyle/>
          <a:p>
            <a:pPr marL="0" indent="0">
              <a:buNone/>
            </a:pPr>
            <a:r>
              <a:rPr lang="en-US" sz="1800" b="1" dirty="0">
                <a:solidFill>
                  <a:schemeClr val="tx2"/>
                </a:solidFill>
              </a:rPr>
              <a:t>Recherche</a:t>
            </a:r>
            <a:endParaRPr lang="en-US" sz="1800" dirty="0"/>
          </a:p>
        </p:txBody>
      </p:sp>
      <p:sp>
        <p:nvSpPr>
          <p:cNvPr id="11" name="Text 7"/>
          <p:cNvSpPr txBox="1"/>
          <p:nvPr/>
        </p:nvSpPr>
        <p:spPr>
          <a:xfrm>
            <a:off x="1325880" y="3264408"/>
            <a:ext cx="3931920" cy="914400"/>
          </a:xfrm>
          <a:prstGeom prst="rect">
            <a:avLst/>
          </a:prstGeom>
          <a:noFill/>
          <a:ln/>
        </p:spPr>
        <p:txBody>
          <a:bodyPr wrap="square" lIns="0" tIns="0" rIns="0" bIns="0" rtlCol="0" anchor="t"/>
          <a:lstStyle/>
          <a:p>
            <a:pPr marL="0" indent="0">
              <a:buNone/>
            </a:pPr>
            <a:r>
              <a:rPr lang="en-US" sz="1500" dirty="0">
                <a:solidFill>
                  <a:schemeClr val="tx1"/>
                </a:solidFill>
              </a:rPr>
              <a:t>q (nom ou code), type, region, ville ; insensible à la casse ; au moins un critère</a:t>
            </a:r>
            <a:endParaRPr lang="en-US" sz="1500" dirty="0"/>
          </a:p>
        </p:txBody>
      </p:sp>
      <p:sp>
        <p:nvSpPr>
          <p:cNvPr id="12" name="icone-FaExclamationTriangle"/>
          <p:cNvSpPr/>
          <p:nvPr/>
        </p:nvSpPr>
        <p:spPr>
          <a:xfrm>
            <a:off x="457200" y="4343400"/>
            <a:ext cx="685800" cy="685800"/>
          </a:xfrm>
          <a:prstGeom prst="ellipse">
            <a:avLst/>
          </a:prstGeom>
          <a:solidFill>
            <a:schemeClr val="accent1"/>
          </a:solidFill>
          <a:ln w="12700">
            <a:solidFill>
              <a:schemeClr val="accent1"/>
            </a:solidFill>
            <a:prstDash val="solid"/>
          </a:ln>
        </p:spPr>
        <p:txBody>
          <a:bodyPr/>
          <a:lstStyle/>
          <a:p>
            <a:endParaRPr lang="fr-FR"/>
          </a:p>
        </p:txBody>
      </p:sp>
      <p:pic>
        <p:nvPicPr>
          <p:cNvPr id="13" name="Image 2" descr="FaExclamationTriangle"/>
          <p:cNvPicPr>
            <a:picLocks noChangeAspect="1"/>
          </p:cNvPicPr>
          <p:nvPr/>
        </p:nvPicPr>
        <p:blipFill>
          <a:blip r:embed="rId5"/>
          <a:stretch>
            <a:fillRect/>
          </a:stretch>
        </p:blipFill>
        <p:spPr>
          <a:xfrm>
            <a:off x="649224" y="4535424"/>
            <a:ext cx="301752" cy="301752"/>
          </a:xfrm>
          <a:prstGeom prst="rect">
            <a:avLst/>
          </a:prstGeom>
        </p:spPr>
      </p:pic>
      <p:sp>
        <p:nvSpPr>
          <p:cNvPr id="14" name="Text 9"/>
          <p:cNvSpPr txBox="1"/>
          <p:nvPr/>
        </p:nvSpPr>
        <p:spPr>
          <a:xfrm>
            <a:off x="1325880" y="4343400"/>
            <a:ext cx="3840480" cy="365760"/>
          </a:xfrm>
          <a:prstGeom prst="rect">
            <a:avLst/>
          </a:prstGeom>
          <a:noFill/>
          <a:ln/>
        </p:spPr>
        <p:txBody>
          <a:bodyPr wrap="square" lIns="0" tIns="0" rIns="0" bIns="0" rtlCol="0" anchor="ctr"/>
          <a:lstStyle/>
          <a:p>
            <a:pPr marL="0" indent="0">
              <a:buNone/>
            </a:pPr>
            <a:r>
              <a:rPr lang="en-US" sz="1800" b="1" dirty="0">
                <a:solidFill>
                  <a:schemeClr val="tx2"/>
                </a:solidFill>
              </a:rPr>
              <a:t>Contrôles</a:t>
            </a:r>
            <a:endParaRPr lang="en-US" sz="1800" dirty="0"/>
          </a:p>
        </p:txBody>
      </p:sp>
      <p:sp>
        <p:nvSpPr>
          <p:cNvPr id="15" name="Text 10"/>
          <p:cNvSpPr txBox="1"/>
          <p:nvPr/>
        </p:nvSpPr>
        <p:spPr>
          <a:xfrm>
            <a:off x="1325880" y="4727448"/>
            <a:ext cx="3931920" cy="914400"/>
          </a:xfrm>
          <a:prstGeom prst="rect">
            <a:avLst/>
          </a:prstGeom>
          <a:noFill/>
          <a:ln/>
        </p:spPr>
        <p:txBody>
          <a:bodyPr wrap="square" lIns="0" tIns="0" rIns="0" bIns="0" rtlCol="0" anchor="t"/>
          <a:lstStyle/>
          <a:p>
            <a:pPr marL="0" indent="0">
              <a:buNone/>
            </a:pPr>
            <a:r>
              <a:rPr lang="en-US" sz="1500" dirty="0">
                <a:solidFill>
                  <a:schemeClr val="tx1"/>
                </a:solidFill>
              </a:rPr>
              <a:t>Paramètre invalide → 400 avec le champ en cause ; id inconnu → 404</a:t>
            </a:r>
            <a:endParaRPr lang="en-US" sz="1500" dirty="0"/>
          </a:p>
        </p:txBody>
      </p:sp>
      <p:sp>
        <p:nvSpPr>
          <p:cNvPr id="16" name="Text 11"/>
          <p:cNvSpPr txBox="1"/>
          <p:nvPr/>
        </p:nvSpPr>
        <p:spPr>
          <a:xfrm>
            <a:off x="5669280" y="1417320"/>
            <a:ext cx="6035040" cy="36576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GET /api/v1/structures?page=2&amp;size=5</a:t>
            </a:r>
            <a:endParaRPr lang="en-US" sz="1500" dirty="0"/>
          </a:p>
        </p:txBody>
      </p:sp>
      <p:sp>
        <p:nvSpPr>
          <p:cNvPr id="17" name="code"/>
          <p:cNvSpPr txBox="1"/>
          <p:nvPr/>
        </p:nvSpPr>
        <p:spPr>
          <a:xfrm>
            <a:off x="5669280" y="1874520"/>
            <a:ext cx="6035040" cy="3291840"/>
          </a:xfrm>
          <a:prstGeom prst="roundRect">
            <a:avLst>
              <a:gd name="adj" fmla="val 2778"/>
            </a:avLst>
          </a:prstGeom>
          <a:solidFill>
            <a:schemeClr val="tx1"/>
          </a:solidFill>
          <a:ln>
            <a:solidFill>
              <a:schemeClr val="tx1"/>
            </a:solidFill>
          </a:ln>
        </p:spPr>
        <p:txBody>
          <a:bodyPr wrap="square" lIns="127000" tIns="152400" rIns="152400" bIns="127000" rtlCol="0" anchor="t"/>
          <a:lstStyle/>
          <a:p>
            <a:pPr marL="0" indent="0">
              <a:buNone/>
            </a:pPr>
            <a:r>
              <a:rPr lang="en-US" sz="1300" dirty="0">
                <a:solidFill>
                  <a:schemeClr val="bg2"/>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"page": 2,</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"size": 5,</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"total": 40,</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"pages": 8,</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"items": [</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 "id": 6, "code": "CSPS-CEN-002",</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"nom": "CSPS Fictif de Wemtenga",</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"type": "CSPS", "region": "Centre",</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"ville": "Ouagadougou" },</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a:t>
            </a:r>
            <a:endParaRPr lang="en-US" sz="1300" dirty="0"/>
          </a:p>
        </p:txBody>
      </p:sp>
      <p:sp>
        <p:nvSpPr>
          <p:cNvPr id="18" name="Text 13"/>
          <p:cNvSpPr txBox="1"/>
          <p:nvPr/>
        </p:nvSpPr>
        <p:spPr>
          <a:xfrm>
            <a:off x="5669280" y="5532120"/>
            <a:ext cx="6035040" cy="548640"/>
          </a:xfrm>
          <a:prstGeom prst="rect">
            <a:avLst/>
          </a:prstGeom>
          <a:noFill/>
          <a:ln/>
        </p:spPr>
        <p:txBody>
          <a:bodyPr wrap="square" lIns="0" tIns="0" rIns="0" bIns="0" rtlCol="0" anchor="ctr"/>
          <a:lstStyle/>
          <a:p>
            <a:pPr marL="0" indent="0">
              <a:buNone/>
            </a:pPr>
            <a:r>
              <a:rPr lang="en-US" sz="1300" dirty="0">
                <a:solidFill>
                  <a:schemeClr val="accent6"/>
                </a:solidFill>
              </a:rPr>
              <a:t>La recherche region=centre&amp;type=CSPS renvoie 2 résultats : les CSPS de Tanghin et de Wemtenga.</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Contrat OpenAPI et format d'erreur</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NANA Florent K. R.</a:t>
            </a:r>
            <a:endParaRPr lang="en-US" sz="1200" dirty="0"/>
          </a:p>
        </p:txBody>
      </p:sp>
      <p:sp>
        <p:nvSpPr>
          <p:cNvPr id="4" name="icone-FaFileCode"/>
          <p:cNvSpPr/>
          <p:nvPr/>
        </p:nvSpPr>
        <p:spPr>
          <a:xfrm>
            <a:off x="457200" y="1371600"/>
            <a:ext cx="640080" cy="640080"/>
          </a:xfrm>
          <a:prstGeom prst="ellipse">
            <a:avLst/>
          </a:prstGeom>
          <a:solidFill>
            <a:schemeClr val="accent1"/>
          </a:solidFill>
          <a:ln w="12700">
            <a:solidFill>
              <a:schemeClr val="accent1"/>
            </a:solidFill>
            <a:prstDash val="solid"/>
          </a:ln>
        </p:spPr>
        <p:txBody>
          <a:bodyPr/>
          <a:lstStyle/>
          <a:p>
            <a:endParaRPr lang="fr-FR"/>
          </a:p>
        </p:txBody>
      </p:sp>
      <p:pic>
        <p:nvPicPr>
          <p:cNvPr id="5" name="Image 0" descr="FaFileCode"/>
          <p:cNvPicPr>
            <a:picLocks noChangeAspect="1"/>
          </p:cNvPicPr>
          <p:nvPr/>
        </p:nvPicPr>
        <p:blipFill>
          <a:blip r:embed="rId3"/>
          <a:stretch>
            <a:fillRect/>
          </a:stretch>
        </p:blipFill>
        <p:spPr>
          <a:xfrm>
            <a:off x="636422" y="1550822"/>
            <a:ext cx="281635" cy="281635"/>
          </a:xfrm>
          <a:prstGeom prst="rect">
            <a:avLst/>
          </a:prstGeom>
        </p:spPr>
      </p:pic>
      <p:sp>
        <p:nvSpPr>
          <p:cNvPr id="6" name="Text 3"/>
          <p:cNvSpPr txBox="1"/>
          <p:nvPr/>
        </p:nvSpPr>
        <p:spPr>
          <a:xfrm>
            <a:off x="1280160" y="1371600"/>
            <a:ext cx="4297680" cy="347472"/>
          </a:xfrm>
          <a:prstGeom prst="rect">
            <a:avLst/>
          </a:prstGeom>
          <a:noFill/>
          <a:ln/>
        </p:spPr>
        <p:txBody>
          <a:bodyPr wrap="square" lIns="0" tIns="0" rIns="0" bIns="0" rtlCol="0" anchor="ctr"/>
          <a:lstStyle/>
          <a:p>
            <a:pPr marL="0" indent="0">
              <a:buNone/>
            </a:pPr>
            <a:r>
              <a:rPr lang="en-US" sz="1700" b="1" dirty="0">
                <a:solidFill>
                  <a:schemeClr val="tx2"/>
                </a:solidFill>
              </a:rPr>
              <a:t>Généré depuis le code</a:t>
            </a:r>
            <a:endParaRPr lang="en-US" sz="1700" dirty="0"/>
          </a:p>
        </p:txBody>
      </p:sp>
      <p:sp>
        <p:nvSpPr>
          <p:cNvPr id="7" name="Text 4"/>
          <p:cNvSpPr txBox="1"/>
          <p:nvPr/>
        </p:nvSpPr>
        <p:spPr>
          <a:xfrm>
            <a:off x="1280160" y="1737360"/>
            <a:ext cx="4389120" cy="731520"/>
          </a:xfrm>
          <a:prstGeom prst="rect">
            <a:avLst/>
          </a:prstGeom>
          <a:noFill/>
          <a:ln/>
        </p:spPr>
        <p:txBody>
          <a:bodyPr wrap="square" lIns="0" tIns="0" rIns="0" bIns="0" rtlCol="0" anchor="t"/>
          <a:lstStyle/>
          <a:p>
            <a:pPr marL="0" indent="0">
              <a:buNone/>
            </a:pPr>
            <a:r>
              <a:rPr lang="en-US" sz="1400" dirty="0">
                <a:solidFill>
                  <a:schemeClr val="tx1"/>
                </a:solidFill>
              </a:rPr>
              <a:t>FastAPI et Pydantic produisent le contrat : il reste aligné sur l'API</a:t>
            </a:r>
            <a:endParaRPr lang="en-US" sz="1400" dirty="0"/>
          </a:p>
        </p:txBody>
      </p:sp>
      <p:sp>
        <p:nvSpPr>
          <p:cNvPr id="8" name="icone-FaPlug"/>
          <p:cNvSpPr/>
          <p:nvPr/>
        </p:nvSpPr>
        <p:spPr>
          <a:xfrm>
            <a:off x="457200" y="2542032"/>
            <a:ext cx="640080" cy="640080"/>
          </a:xfrm>
          <a:prstGeom prst="ellipse">
            <a:avLst/>
          </a:prstGeom>
          <a:solidFill>
            <a:schemeClr val="accent1"/>
          </a:solidFill>
          <a:ln w="12700">
            <a:solidFill>
              <a:schemeClr val="accent1"/>
            </a:solidFill>
            <a:prstDash val="solid"/>
          </a:ln>
        </p:spPr>
        <p:txBody>
          <a:bodyPr/>
          <a:lstStyle/>
          <a:p>
            <a:endParaRPr lang="fr-FR"/>
          </a:p>
        </p:txBody>
      </p:sp>
      <p:pic>
        <p:nvPicPr>
          <p:cNvPr id="9" name="Image 1" descr="FaPlug"/>
          <p:cNvPicPr>
            <a:picLocks noChangeAspect="1"/>
          </p:cNvPicPr>
          <p:nvPr/>
        </p:nvPicPr>
        <p:blipFill>
          <a:blip r:embed="rId4"/>
          <a:stretch>
            <a:fillRect/>
          </a:stretch>
        </p:blipFill>
        <p:spPr>
          <a:xfrm>
            <a:off x="636422" y="2721254"/>
            <a:ext cx="281635" cy="281635"/>
          </a:xfrm>
          <a:prstGeom prst="rect">
            <a:avLst/>
          </a:prstGeom>
        </p:spPr>
      </p:pic>
      <p:sp>
        <p:nvSpPr>
          <p:cNvPr id="10" name="Text 6"/>
          <p:cNvSpPr txBox="1"/>
          <p:nvPr/>
        </p:nvSpPr>
        <p:spPr>
          <a:xfrm>
            <a:off x="1280160" y="2542032"/>
            <a:ext cx="4297680" cy="347472"/>
          </a:xfrm>
          <a:prstGeom prst="rect">
            <a:avLst/>
          </a:prstGeom>
          <a:noFill/>
          <a:ln/>
        </p:spPr>
        <p:txBody>
          <a:bodyPr wrap="square" lIns="0" tIns="0" rIns="0" bIns="0" rtlCol="0" anchor="ctr"/>
          <a:lstStyle/>
          <a:p>
            <a:pPr marL="0" indent="0">
              <a:buNone/>
            </a:pPr>
            <a:r>
              <a:rPr lang="en-US" sz="1700" b="1" dirty="0">
                <a:solidFill>
                  <a:schemeClr val="tx2"/>
                </a:solidFill>
              </a:rPr>
              <a:t>Enrichi pour Gravitee</a:t>
            </a:r>
            <a:endParaRPr lang="en-US" sz="1700" dirty="0"/>
          </a:p>
        </p:txBody>
      </p:sp>
      <p:sp>
        <p:nvSpPr>
          <p:cNvPr id="11" name="Text 7"/>
          <p:cNvSpPr txBox="1"/>
          <p:nvPr/>
        </p:nvSpPr>
        <p:spPr>
          <a:xfrm>
            <a:off x="1280160" y="2907792"/>
            <a:ext cx="4389120" cy="731520"/>
          </a:xfrm>
          <a:prstGeom prst="rect">
            <a:avLst/>
          </a:prstGeom>
          <a:noFill/>
          <a:ln/>
        </p:spPr>
        <p:txBody>
          <a:bodyPr wrap="square" lIns="0" tIns="0" rIns="0" bIns="0" rtlCol="0" anchor="t"/>
          <a:lstStyle/>
          <a:p>
            <a:pPr marL="0" indent="0">
              <a:buNone/>
            </a:pPr>
            <a:r>
              <a:rPr lang="en-US" sz="1400" dirty="0">
                <a:solidFill>
                  <a:schemeClr val="tx1"/>
                </a:solidFill>
              </a:rPr>
              <a:t>Cible backend, sécurité X-Gravitee-Api-Key, erreurs 401 et 429 de la gateway</a:t>
            </a:r>
            <a:endParaRPr lang="en-US" sz="1400" dirty="0"/>
          </a:p>
        </p:txBody>
      </p:sp>
      <p:sp>
        <p:nvSpPr>
          <p:cNvPr id="12" name="icone-FaCheckCircle"/>
          <p:cNvSpPr/>
          <p:nvPr/>
        </p:nvSpPr>
        <p:spPr>
          <a:xfrm>
            <a:off x="457200" y="3712464"/>
            <a:ext cx="640080" cy="640080"/>
          </a:xfrm>
          <a:prstGeom prst="ellipse">
            <a:avLst/>
          </a:prstGeom>
          <a:solidFill>
            <a:schemeClr val="accent1"/>
          </a:solidFill>
          <a:ln w="12700">
            <a:solidFill>
              <a:schemeClr val="accent1"/>
            </a:solidFill>
            <a:prstDash val="solid"/>
          </a:ln>
        </p:spPr>
        <p:txBody>
          <a:bodyPr/>
          <a:lstStyle/>
          <a:p>
            <a:endParaRPr lang="fr-FR"/>
          </a:p>
        </p:txBody>
      </p:sp>
      <p:pic>
        <p:nvPicPr>
          <p:cNvPr id="13" name="Image 2" descr="FaCheckCircle"/>
          <p:cNvPicPr>
            <a:picLocks noChangeAspect="1"/>
          </p:cNvPicPr>
          <p:nvPr/>
        </p:nvPicPr>
        <p:blipFill>
          <a:blip r:embed="rId5"/>
          <a:stretch>
            <a:fillRect/>
          </a:stretch>
        </p:blipFill>
        <p:spPr>
          <a:xfrm>
            <a:off x="636422" y="3891686"/>
            <a:ext cx="281635" cy="281635"/>
          </a:xfrm>
          <a:prstGeom prst="rect">
            <a:avLst/>
          </a:prstGeom>
        </p:spPr>
      </p:pic>
      <p:sp>
        <p:nvSpPr>
          <p:cNvPr id="14" name="Text 9"/>
          <p:cNvSpPr txBox="1"/>
          <p:nvPr/>
        </p:nvSpPr>
        <p:spPr>
          <a:xfrm>
            <a:off x="1280160" y="3712464"/>
            <a:ext cx="4297680" cy="347472"/>
          </a:xfrm>
          <a:prstGeom prst="rect">
            <a:avLst/>
          </a:prstGeom>
          <a:noFill/>
          <a:ln/>
        </p:spPr>
        <p:txBody>
          <a:bodyPr wrap="square" lIns="0" tIns="0" rIns="0" bIns="0" rtlCol="0" anchor="ctr"/>
          <a:lstStyle/>
          <a:p>
            <a:pPr marL="0" indent="0">
              <a:buNone/>
            </a:pPr>
            <a:r>
              <a:rPr lang="en-US" sz="1700" b="1" dirty="0">
                <a:solidFill>
                  <a:schemeClr val="tx2"/>
                </a:solidFill>
              </a:rPr>
              <a:t>Validé</a:t>
            </a:r>
            <a:endParaRPr lang="en-US" sz="1700" dirty="0"/>
          </a:p>
        </p:txBody>
      </p:sp>
      <p:sp>
        <p:nvSpPr>
          <p:cNvPr id="15" name="Text 10"/>
          <p:cNvSpPr txBox="1"/>
          <p:nvPr/>
        </p:nvSpPr>
        <p:spPr>
          <a:xfrm>
            <a:off x="1280160" y="4078224"/>
            <a:ext cx="4389120" cy="731520"/>
          </a:xfrm>
          <a:prstGeom prst="rect">
            <a:avLst/>
          </a:prstGeom>
          <a:noFill/>
          <a:ln/>
        </p:spPr>
        <p:txBody>
          <a:bodyPr wrap="square" lIns="0" tIns="0" rIns="0" bIns="0" rtlCol="0" anchor="t"/>
          <a:lstStyle/>
          <a:p>
            <a:pPr marL="0" indent="0">
              <a:buNone/>
            </a:pPr>
            <a:r>
              <a:rPr lang="en-US" sz="1400" dirty="0">
                <a:solidFill>
                  <a:schemeClr val="tx1"/>
                </a:solidFill>
              </a:rPr>
              <a:t>Les contrats v1 et v2 passent la validation swagger-cli</a:t>
            </a:r>
            <a:endParaRPr lang="en-US" sz="1400" dirty="0"/>
          </a:p>
        </p:txBody>
      </p:sp>
      <p:sp>
        <p:nvSpPr>
          <p:cNvPr id="16" name="icone-FaGlobe"/>
          <p:cNvSpPr/>
          <p:nvPr/>
        </p:nvSpPr>
        <p:spPr>
          <a:xfrm>
            <a:off x="457200" y="4882896"/>
            <a:ext cx="640080" cy="640080"/>
          </a:xfrm>
          <a:prstGeom prst="ellipse">
            <a:avLst/>
          </a:prstGeom>
          <a:solidFill>
            <a:schemeClr val="accent1"/>
          </a:solidFill>
          <a:ln w="12700">
            <a:solidFill>
              <a:schemeClr val="accent1"/>
            </a:solidFill>
            <a:prstDash val="solid"/>
          </a:ln>
        </p:spPr>
        <p:txBody>
          <a:bodyPr/>
          <a:lstStyle/>
          <a:p>
            <a:endParaRPr lang="fr-FR"/>
          </a:p>
        </p:txBody>
      </p:sp>
      <p:pic>
        <p:nvPicPr>
          <p:cNvPr id="17" name="Image 3" descr="FaGlobe"/>
          <p:cNvPicPr>
            <a:picLocks noChangeAspect="1"/>
          </p:cNvPicPr>
          <p:nvPr/>
        </p:nvPicPr>
        <p:blipFill>
          <a:blip r:embed="rId6"/>
          <a:stretch>
            <a:fillRect/>
          </a:stretch>
        </p:blipFill>
        <p:spPr>
          <a:xfrm>
            <a:off x="636422" y="5062118"/>
            <a:ext cx="281635" cy="281635"/>
          </a:xfrm>
          <a:prstGeom prst="rect">
            <a:avLst/>
          </a:prstGeom>
        </p:spPr>
      </p:pic>
      <p:sp>
        <p:nvSpPr>
          <p:cNvPr id="18" name="Text 12"/>
          <p:cNvSpPr txBox="1"/>
          <p:nvPr/>
        </p:nvSpPr>
        <p:spPr>
          <a:xfrm>
            <a:off x="1280160" y="4882896"/>
            <a:ext cx="4297680" cy="347472"/>
          </a:xfrm>
          <a:prstGeom prst="rect">
            <a:avLst/>
          </a:prstGeom>
          <a:noFill/>
          <a:ln/>
        </p:spPr>
        <p:txBody>
          <a:bodyPr wrap="square" lIns="0" tIns="0" rIns="0" bIns="0" rtlCol="0" anchor="ctr"/>
          <a:lstStyle/>
          <a:p>
            <a:pPr marL="0" indent="0">
              <a:buNone/>
            </a:pPr>
            <a:r>
              <a:rPr lang="en-US" sz="1700" b="1" dirty="0">
                <a:solidFill>
                  <a:schemeClr val="tx2"/>
                </a:solidFill>
              </a:rPr>
              <a:t>Importé dans Gravitee</a:t>
            </a:r>
            <a:endParaRPr lang="en-US" sz="1700" dirty="0"/>
          </a:p>
        </p:txBody>
      </p:sp>
      <p:sp>
        <p:nvSpPr>
          <p:cNvPr id="19" name="Text 13"/>
          <p:cNvSpPr txBox="1"/>
          <p:nvPr/>
        </p:nvSpPr>
        <p:spPr>
          <a:xfrm>
            <a:off x="1280160" y="5248656"/>
            <a:ext cx="4389120" cy="731520"/>
          </a:xfrm>
          <a:prstGeom prst="rect">
            <a:avLst/>
          </a:prstGeom>
          <a:noFill/>
          <a:ln/>
        </p:spPr>
        <p:txBody>
          <a:bodyPr wrap="square" lIns="0" tIns="0" rIns="0" bIns="0" rtlCol="0" anchor="t"/>
          <a:lstStyle/>
          <a:p>
            <a:pPr marL="0" indent="0">
              <a:buNone/>
            </a:pPr>
            <a:r>
              <a:rPr lang="en-US" sz="1400" dirty="0">
                <a:solidFill>
                  <a:schemeClr val="tx1"/>
                </a:solidFill>
              </a:rPr>
              <a:t>Import v4 API : la documentation est publiée sur le portail</a:t>
            </a:r>
            <a:endParaRPr lang="en-US" sz="1400" dirty="0"/>
          </a:p>
        </p:txBody>
      </p:sp>
      <p:sp>
        <p:nvSpPr>
          <p:cNvPr id="20" name="Text 14"/>
          <p:cNvSpPr txBox="1"/>
          <p:nvPr/>
        </p:nvSpPr>
        <p:spPr>
          <a:xfrm>
            <a:off x="6126480" y="1371600"/>
            <a:ext cx="5577840" cy="365760"/>
          </a:xfrm>
          <a:prstGeom prst="rect">
            <a:avLst/>
          </a:prstGeom>
          <a:noFill/>
          <a:ln/>
        </p:spPr>
        <p:txBody>
          <a:bodyPr wrap="square" lIns="0" tIns="0" rIns="0" bIns="0" rtlCol="0" anchor="ctr"/>
          <a:lstStyle/>
          <a:p>
            <a:pPr marL="0" indent="0">
              <a:buNone/>
            </a:pPr>
            <a:r>
              <a:rPr lang="en-US" sz="1800" b="1" dirty="0">
                <a:solidFill>
                  <a:schemeClr val="tx2"/>
                </a:solidFill>
              </a:rPr>
              <a:t>Une seule forme d'erreur pour toute l'API</a:t>
            </a:r>
            <a:endParaRPr lang="en-US" sz="1800" dirty="0"/>
          </a:p>
        </p:txBody>
      </p:sp>
      <p:sp>
        <p:nvSpPr>
          <p:cNvPr id="21" name="code"/>
          <p:cNvSpPr txBox="1"/>
          <p:nvPr/>
        </p:nvSpPr>
        <p:spPr>
          <a:xfrm>
            <a:off x="6126480" y="1828800"/>
            <a:ext cx="5577840" cy="2697480"/>
          </a:xfrm>
          <a:prstGeom prst="roundRect">
            <a:avLst>
              <a:gd name="adj" fmla="val 3390"/>
            </a:avLst>
          </a:prstGeom>
          <a:solidFill>
            <a:schemeClr val="tx1"/>
          </a:solidFill>
          <a:ln>
            <a:solidFill>
              <a:schemeClr val="tx1"/>
            </a:solidFill>
          </a:ln>
        </p:spPr>
        <p:txBody>
          <a:bodyPr wrap="square" lIns="127000" tIns="152400" rIns="152400" bIns="127000" rtlCol="0" anchor="t"/>
          <a:lstStyle/>
          <a:p>
            <a:pPr marL="0" indent="0">
              <a:buNone/>
            </a:pPr>
            <a:r>
              <a:rPr lang="en-US" sz="1300" dirty="0">
                <a:solidFill>
                  <a:schemeClr val="bg2"/>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"status": 400,</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"code": "VALIDATION_ERROR",</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"message": "Paramètres invalides",</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"details": [</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 "champ": "size",</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"message": "Input should be less</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than or equal to 100" }</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a:t>
            </a:r>
            <a:endParaRPr lang="en-US" sz="1300" dirty="0"/>
          </a:p>
        </p:txBody>
      </p:sp>
      <p:sp>
        <p:nvSpPr>
          <p:cNvPr id="22" name="Text 16"/>
          <p:cNvSpPr txBox="1"/>
          <p:nvPr/>
        </p:nvSpPr>
        <p:spPr>
          <a:xfrm>
            <a:off x="6126480" y="4709160"/>
            <a:ext cx="5577840" cy="914400"/>
          </a:xfrm>
          <a:prstGeom prst="rect">
            <a:avLst/>
          </a:prstGeom>
          <a:noFill/>
          <a:ln/>
        </p:spPr>
        <p:txBody>
          <a:bodyPr wrap="square" lIns="0" tIns="0" rIns="0" bIns="0" rtlCol="0" anchor="ctr"/>
          <a:lstStyle/>
          <a:p>
            <a:pPr marL="0" indent="0">
              <a:buNone/>
            </a:pPr>
            <a:r>
              <a:rPr lang="en-US" sz="1300" dirty="0">
                <a:solidFill>
                  <a:schemeClr val="accent6"/>
                </a:solidFill>
              </a:rPr>
              <a:t>Le client lit toujours status, code et message ; details précise le champ fautif. Fichiers : openapi/structures-v1.yaml et structures-v2.yaml.</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Codes d'erreur : backend et gateway</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NANA Florent K. R.</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4297680"/>
        </p:xfrm>
        <a:graphic>
          <a:graphicData uri="http://schemas.openxmlformats.org/drawingml/2006/table">
            <a:tbl>
              <a:tblPr/>
              <a:tblGrid>
                <a:gridCol w="868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6062472">
                  <a:extLst>
                    <a:ext uri="{9D8B030D-6E8A-4147-A177-3AD203B41FA5}">
                      <a16:colId xmlns:a16="http://schemas.microsoft.com/office/drawing/2014/main" val="20003"/>
                    </a:ext>
                  </a:extLst>
                </a:gridCol>
              </a:tblGrid>
              <a:tr h="429768">
                <a:tc>
                  <a:txBody>
                    <a:bodyPr/>
                    <a:lstStyle/>
                    <a:p>
                      <a:pPr marL="0" indent="0" algn="ctr">
                        <a:buNone/>
                      </a:pPr>
                      <a:r>
                        <a:rPr lang="en-US" sz="1400" b="1" dirty="0">
                          <a:solidFill>
                            <a:schemeClr val="bg1"/>
                          </a:solidFill>
                        </a:rPr>
                        <a:t>HTTP</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Code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Origine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Quand</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9768">
                <a:tc>
                  <a:txBody>
                    <a:bodyPr/>
                    <a:lstStyle/>
                    <a:p>
                      <a:pPr marL="0" indent="0" algn="ctr">
                        <a:buNone/>
                      </a:pPr>
                      <a:r>
                        <a:rPr lang="en-US" sz="1400" b="1" dirty="0">
                          <a:solidFill>
                            <a:schemeClr val="accent5"/>
                          </a:solidFill>
                        </a:rPr>
                        <a:t>400</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VALIDATION_ERROR</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Backend</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Paramètre mal typé ou hors limites (size &gt; 100, id non numérique)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9768">
                <a:tc>
                  <a:txBody>
                    <a:bodyPr/>
                    <a:lstStyle/>
                    <a:p>
                      <a:pPr marL="0" indent="0" algn="ctr">
                        <a:buNone/>
                      </a:pPr>
                      <a:r>
                        <a:rPr lang="en-US" sz="1400" b="1" dirty="0">
                          <a:solidFill>
                            <a:schemeClr val="accent5"/>
                          </a:solidFill>
                        </a:rPr>
                        <a:t>400</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MISSING_CRITERIA</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Backend</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Recherche sans aucun critère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9768">
                <a:tc>
                  <a:txBody>
                    <a:bodyPr/>
                    <a:lstStyle/>
                    <a:p>
                      <a:pPr marL="0" indent="0" algn="ctr">
                        <a:buNone/>
                      </a:pPr>
                      <a:r>
                        <a:rPr lang="en-US" sz="1400" b="1" dirty="0">
                          <a:solidFill>
                            <a:schemeClr val="accent5"/>
                          </a:solidFill>
                        </a:rPr>
                        <a:t>404</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STRUCTURE_NOT_FOUND</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Backend</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Identifiant inexistant</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9768">
                <a:tc>
                  <a:txBody>
                    <a:bodyPr/>
                    <a:lstStyle/>
                    <a:p>
                      <a:pPr marL="0" indent="0" algn="ctr">
                        <a:buNone/>
                      </a:pPr>
                      <a:r>
                        <a:rPr lang="en-US" sz="1400" b="1" dirty="0">
                          <a:solidFill>
                            <a:schemeClr val="accent5"/>
                          </a:solidFill>
                        </a:rPr>
                        <a:t>405</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METHOD_NOT_ALLOWED</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Backend</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Tentative d'écriture (API en lecture seule)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29768">
                <a:tc>
                  <a:txBody>
                    <a:bodyPr/>
                    <a:lstStyle/>
                    <a:p>
                      <a:pPr marL="0" indent="0" algn="ctr">
                        <a:buNone/>
                      </a:pPr>
                      <a:r>
                        <a:rPr lang="en-US" sz="1400" b="1" dirty="0">
                          <a:solidFill>
                            <a:schemeClr val="accent4"/>
                          </a:solidFill>
                        </a:rPr>
                        <a:t>503</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DATABASE_UNAVAILABLE</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Backend</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PostgreSQL injoignable</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29768">
                <a:tc>
                  <a:txBody>
                    <a:bodyPr/>
                    <a:lstStyle/>
                    <a:p>
                      <a:pPr marL="0" indent="0" algn="ctr">
                        <a:buNone/>
                      </a:pPr>
                      <a:r>
                        <a:rPr lang="en-US" sz="1400" b="1" dirty="0">
                          <a:solidFill>
                            <a:schemeClr val="accent4"/>
                          </a:solidFill>
                        </a:rPr>
                        <a:t>500</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INTERNAL_ERROR</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Backend</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Erreur imprévue (détail dans les journaux)</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29768">
                <a:tc>
                  <a:txBody>
                    <a:bodyPr/>
                    <a:lstStyle/>
                    <a:p>
                      <a:pPr marL="0" indent="0" algn="ctr">
                        <a:buNone/>
                      </a:pPr>
                      <a:r>
                        <a:rPr lang="en-US" sz="1400" b="1" dirty="0">
                          <a:solidFill>
                            <a:schemeClr val="accent4"/>
                          </a:solidFill>
                        </a:rPr>
                        <a:t>401</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Unauthorized</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rPr>
                        <a:t>Gateway</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Clé absente, inconnue ou d'une autre API</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29768">
                <a:tc>
                  <a:txBody>
                    <a:bodyPr/>
                    <a:lstStyle/>
                    <a:p>
                      <a:pPr marL="0" indent="0" algn="ctr">
                        <a:buNone/>
                      </a:pPr>
                      <a:r>
                        <a:rPr lang="en-US" sz="1400" b="1" dirty="0">
                          <a:solidFill>
                            <a:schemeClr val="accent4"/>
                          </a:solidFill>
                        </a:rPr>
                        <a:t>429</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Rate limit exceeded</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rPr>
                        <a:t>Gateway</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Plus de 5 requêtes en 10 s ou plus de 1 000 par jour</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29768">
                <a:tc>
                  <a:txBody>
                    <a:bodyPr/>
                    <a:lstStyle/>
                    <a:p>
                      <a:pPr marL="0" indent="0" algn="ctr">
                        <a:buNone/>
                      </a:pPr>
                      <a:r>
                        <a:rPr lang="en-US" sz="1400" b="1" dirty="0">
                          <a:solidFill>
                            <a:schemeClr val="accent5"/>
                          </a:solidFill>
                        </a:rPr>
                        <a:t>404</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No context-path</a:t>
                      </a:r>
                      <a:endParaRPr lang="en-US" sz="1300" dirty="0">
                        <a:latin typeface="Courier New" charset="0"/>
                        <a:ea typeface="Courier New" charset="0"/>
                        <a:cs typeface="Courier New" charset="0"/>
                      </a:endParaRPr>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rPr>
                        <a:t>Gateway</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API arrêtée : la gateway ne route plus</a:t>
                      </a:r>
                      <a:endParaRPr lang="en-US" sz="1400" dirty="0"/>
                    </a:p>
                  </a:txBody>
                  <a:tcPr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5" name="Text 2"/>
          <p:cNvSpPr txBox="1"/>
          <p:nvPr/>
        </p:nvSpPr>
        <p:spPr>
          <a:xfrm>
            <a:off x="457200" y="5806440"/>
            <a:ext cx="11274552" cy="457200"/>
          </a:xfrm>
          <a:prstGeom prst="rect">
            <a:avLst/>
          </a:prstGeom>
          <a:noFill/>
          <a:ln/>
        </p:spPr>
        <p:txBody>
          <a:bodyPr wrap="square" lIns="0" tIns="0" rIns="0" bIns="0" rtlCol="0" anchor="ctr"/>
          <a:lstStyle/>
          <a:p>
            <a:pPr marL="0" indent="0">
              <a:buNone/>
            </a:pPr>
            <a:r>
              <a:rPr lang="en-US" sz="1300" dirty="0">
                <a:solidFill>
                  <a:schemeClr val="accent6"/>
                </a:solidFill>
              </a:rPr>
              <a:t>Chaque réponse porte aussi un en-tête X-Correlation-ID, repris de X-Gravitee-Request-Id, pour suivre une requête de la gateway jusqu'aux journaux du backend.</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Enregistrement et routage dans Gravitee</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YAMEOGO Fiacre D. T.</a:t>
            </a:r>
            <a:endParaRPr lang="en-US" sz="1200" dirty="0"/>
          </a:p>
        </p:txBody>
      </p:sp>
      <p:sp>
        <p:nvSpPr>
          <p:cNvPr id="4" name="Text 2"/>
          <p:cNvSpPr txBox="1"/>
          <p:nvPr/>
        </p:nvSpPr>
        <p:spPr>
          <a:xfrm>
            <a:off x="457200" y="141732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188720" y="1399032"/>
            <a:ext cx="3291840" cy="347472"/>
          </a:xfrm>
          <a:prstGeom prst="rect">
            <a:avLst/>
          </a:prstGeom>
          <a:noFill/>
          <a:ln/>
        </p:spPr>
        <p:txBody>
          <a:bodyPr wrap="square" lIns="0" tIns="0" rIns="0" bIns="0" rtlCol="0" anchor="ctr"/>
          <a:lstStyle/>
          <a:p>
            <a:pPr marL="0" indent="0">
              <a:buNone/>
            </a:pPr>
            <a:r>
              <a:rPr lang="en-US" sz="1700" b="1" dirty="0">
                <a:solidFill>
                  <a:schemeClr val="tx2"/>
                </a:solidFill>
              </a:rPr>
              <a:t>Import v4 API</a:t>
            </a:r>
            <a:endParaRPr lang="en-US" sz="1700" dirty="0"/>
          </a:p>
        </p:txBody>
      </p:sp>
      <p:sp>
        <p:nvSpPr>
          <p:cNvPr id="6" name="Text 4"/>
          <p:cNvSpPr txBox="1"/>
          <p:nvPr/>
        </p:nvSpPr>
        <p:spPr>
          <a:xfrm>
            <a:off x="1188720" y="1764792"/>
            <a:ext cx="3611880" cy="731520"/>
          </a:xfrm>
          <a:prstGeom prst="rect">
            <a:avLst/>
          </a:prstGeom>
          <a:noFill/>
          <a:ln/>
        </p:spPr>
        <p:txBody>
          <a:bodyPr wrap="square" lIns="0" tIns="0" rIns="0" bIns="0" rtlCol="0" anchor="t"/>
          <a:lstStyle/>
          <a:p>
            <a:pPr marL="0" indent="0">
              <a:buNone/>
            </a:pPr>
            <a:r>
              <a:rPr lang="en-US" sz="1400" dirty="0">
                <a:solidFill>
                  <a:schemeClr val="tx1"/>
                </a:solidFill>
              </a:rPr>
              <a:t>depuis structures-v1.yaml</a:t>
            </a:r>
            <a:endParaRPr lang="en-US" sz="1400" dirty="0"/>
          </a:p>
        </p:txBody>
      </p:sp>
      <p:sp>
        <p:nvSpPr>
          <p:cNvPr id="7" name="Text 5"/>
          <p:cNvSpPr txBox="1"/>
          <p:nvPr/>
        </p:nvSpPr>
        <p:spPr>
          <a:xfrm>
            <a:off x="457200" y="256032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6"/>
          <p:cNvSpPr txBox="1"/>
          <p:nvPr/>
        </p:nvSpPr>
        <p:spPr>
          <a:xfrm>
            <a:off x="1188720" y="2542032"/>
            <a:ext cx="3291840" cy="347472"/>
          </a:xfrm>
          <a:prstGeom prst="rect">
            <a:avLst/>
          </a:prstGeom>
          <a:noFill/>
          <a:ln/>
        </p:spPr>
        <p:txBody>
          <a:bodyPr wrap="square" lIns="0" tIns="0" rIns="0" bIns="0" rtlCol="0" anchor="ctr"/>
          <a:lstStyle/>
          <a:p>
            <a:pPr marL="0" indent="0">
              <a:buNone/>
            </a:pPr>
            <a:r>
              <a:rPr lang="en-US" sz="1700" b="1" dirty="0">
                <a:solidFill>
                  <a:schemeClr val="tx2"/>
                </a:solidFill>
              </a:rPr>
              <a:t>Entrypoint</a:t>
            </a:r>
            <a:endParaRPr lang="en-US" sz="1700" dirty="0"/>
          </a:p>
        </p:txBody>
      </p:sp>
      <p:sp>
        <p:nvSpPr>
          <p:cNvPr id="9" name="Text 7"/>
          <p:cNvSpPr txBox="1"/>
          <p:nvPr/>
        </p:nvSpPr>
        <p:spPr>
          <a:xfrm>
            <a:off x="1188720" y="2907792"/>
            <a:ext cx="3611880" cy="731520"/>
          </a:xfrm>
          <a:prstGeom prst="rect">
            <a:avLst/>
          </a:prstGeom>
          <a:noFill/>
          <a:ln/>
        </p:spPr>
        <p:txBody>
          <a:bodyPr wrap="square" lIns="0" tIns="0" rIns="0" bIns="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/sante/structures/v1</a:t>
            </a:r>
            <a:endParaRPr lang="en-US" sz="1400" dirty="0"/>
          </a:p>
        </p:txBody>
      </p:sp>
      <p:sp>
        <p:nvSpPr>
          <p:cNvPr id="10" name="Text 8"/>
          <p:cNvSpPr txBox="1"/>
          <p:nvPr/>
        </p:nvSpPr>
        <p:spPr>
          <a:xfrm>
            <a:off x="457200" y="370332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1" name="Text 9"/>
          <p:cNvSpPr txBox="1"/>
          <p:nvPr/>
        </p:nvSpPr>
        <p:spPr>
          <a:xfrm>
            <a:off x="1188720" y="3685032"/>
            <a:ext cx="3291840" cy="347472"/>
          </a:xfrm>
          <a:prstGeom prst="rect">
            <a:avLst/>
          </a:prstGeom>
          <a:noFill/>
          <a:ln/>
        </p:spPr>
        <p:txBody>
          <a:bodyPr wrap="square" lIns="0" tIns="0" rIns="0" bIns="0" rtlCol="0" anchor="ctr"/>
          <a:lstStyle/>
          <a:p>
            <a:pPr marL="0" indent="0">
              <a:buNone/>
            </a:pPr>
            <a:r>
              <a:rPr lang="en-US" sz="1700" b="1" dirty="0">
                <a:solidFill>
                  <a:schemeClr val="tx2"/>
                </a:solidFill>
              </a:rPr>
              <a:t>Endpoint</a:t>
            </a:r>
            <a:endParaRPr lang="en-US" sz="1700" dirty="0"/>
          </a:p>
        </p:txBody>
      </p:sp>
      <p:sp>
        <p:nvSpPr>
          <p:cNvPr id="12" name="Text 10"/>
          <p:cNvSpPr txBox="1"/>
          <p:nvPr/>
        </p:nvSpPr>
        <p:spPr>
          <a:xfrm>
            <a:off x="1188720" y="4050792"/>
            <a:ext cx="3611880" cy="73152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http://structures-api:8000/api/v1</a:t>
            </a:r>
            <a:endParaRPr lang="en-US" sz="1400" dirty="0"/>
          </a:p>
          <a:p>
            <a:pPr marL="0" indent="0">
              <a:buNone/>
            </a:pPr>
            <a:r>
              <a:rPr lang="en-US" sz="1300" dirty="0">
                <a:solidFill>
                  <a:schemeClr val="accent6"/>
                </a:solidFill>
              </a:rPr>
              <a:t>nom du service sur le réseau Docker</a:t>
            </a:r>
            <a:endParaRPr lang="en-US" sz="1400" dirty="0"/>
          </a:p>
        </p:txBody>
      </p:sp>
      <p:sp>
        <p:nvSpPr>
          <p:cNvPr id="13" name="Text 11"/>
          <p:cNvSpPr txBox="1"/>
          <p:nvPr/>
        </p:nvSpPr>
        <p:spPr>
          <a:xfrm>
            <a:off x="457200" y="484632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4" name="Text 12"/>
          <p:cNvSpPr txBox="1"/>
          <p:nvPr/>
        </p:nvSpPr>
        <p:spPr>
          <a:xfrm>
            <a:off x="1188720" y="4828032"/>
            <a:ext cx="3291840" cy="347472"/>
          </a:xfrm>
          <a:prstGeom prst="rect">
            <a:avLst/>
          </a:prstGeom>
          <a:noFill/>
          <a:ln/>
        </p:spPr>
        <p:txBody>
          <a:bodyPr wrap="square" lIns="0" tIns="0" rIns="0" bIns="0" rtlCol="0" anchor="ctr"/>
          <a:lstStyle/>
          <a:p>
            <a:pPr marL="0" indent="0">
              <a:buNone/>
            </a:pPr>
            <a:r>
              <a:rPr lang="en-US" sz="1700" b="1" dirty="0">
                <a:solidFill>
                  <a:schemeClr val="tx2"/>
                </a:solidFill>
              </a:rPr>
              <a:t>Déploiement</a:t>
            </a:r>
            <a:endParaRPr lang="en-US" sz="1700" dirty="0"/>
          </a:p>
        </p:txBody>
      </p:sp>
      <p:sp>
        <p:nvSpPr>
          <p:cNvPr id="15" name="Text 13"/>
          <p:cNvSpPr txBox="1"/>
          <p:nvPr/>
        </p:nvSpPr>
        <p:spPr>
          <a:xfrm>
            <a:off x="1188720" y="5193792"/>
            <a:ext cx="3611880" cy="731520"/>
          </a:xfrm>
          <a:prstGeom prst="rect">
            <a:avLst/>
          </a:prstGeom>
          <a:noFill/>
          <a:ln/>
        </p:spPr>
        <p:txBody>
          <a:bodyPr wrap="square" lIns="0" tIns="0" rIns="0" bIns="0" rtlCol="0" anchor="t"/>
          <a:lstStyle/>
          <a:p>
            <a:pPr marL="0" indent="0">
              <a:buNone/>
            </a:pPr>
            <a:r>
              <a:rPr lang="en-US" sz="1400" dirty="0">
                <a:solidFill>
                  <a:schemeClr val="tx1"/>
                </a:solidFill>
              </a:rPr>
              <a:t>Deploy API puis Start the API</a:t>
            </a:r>
            <a:endParaRPr lang="en-US" sz="1400" dirty="0"/>
          </a:p>
        </p:txBody>
      </p:sp>
      <p:sp>
        <p:nvSpPr>
          <p:cNvPr id="16" name="cadre-Capture2_Entrypoints.png"/>
          <p:cNvSpPr/>
          <p:nvPr/>
        </p:nvSpPr>
        <p:spPr>
          <a:xfrm>
            <a:off x="4892040" y="1380996"/>
            <a:ext cx="3383280" cy="1672848"/>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17" name="Image 0" descr="Écran Entrypoints : context path /sante/structures/v1"/>
          <p:cNvPicPr>
            <a:picLocks noChangeAspect="1"/>
          </p:cNvPicPr>
          <p:nvPr/>
        </p:nvPicPr>
        <p:blipFill>
          <a:blip r:embed="rId3"/>
          <a:stretch>
            <a:fillRect/>
          </a:stretch>
        </p:blipFill>
        <p:spPr>
          <a:xfrm>
            <a:off x="4937760" y="1426716"/>
            <a:ext cx="3291840" cy="1581408"/>
          </a:xfrm>
          <a:prstGeom prst="rect">
            <a:avLst/>
          </a:prstGeom>
        </p:spPr>
      </p:pic>
      <p:sp>
        <p:nvSpPr>
          <p:cNvPr id="18" name="cadre-Capture2_Endpoints.png"/>
          <p:cNvSpPr/>
          <p:nvPr/>
        </p:nvSpPr>
        <p:spPr>
          <a:xfrm>
            <a:off x="8366760" y="1491998"/>
            <a:ext cx="3383280" cy="1450845"/>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19" name="Image 1" descr="Écran Endpoints : cible http://structures-api:8000/api/v1"/>
          <p:cNvPicPr>
            <a:picLocks noChangeAspect="1"/>
          </p:cNvPicPr>
          <p:nvPr/>
        </p:nvPicPr>
        <p:blipFill>
          <a:blip r:embed="rId4"/>
          <a:stretch>
            <a:fillRect/>
          </a:stretch>
        </p:blipFill>
        <p:spPr>
          <a:xfrm>
            <a:off x="8412480" y="1537718"/>
            <a:ext cx="3291840" cy="1359405"/>
          </a:xfrm>
          <a:prstGeom prst="rect">
            <a:avLst/>
          </a:prstGeom>
        </p:spPr>
      </p:pic>
      <p:sp>
        <p:nvSpPr>
          <p:cNvPr id="20" name="cadre-Capture1_curl.png"/>
          <p:cNvSpPr/>
          <p:nvPr/>
        </p:nvSpPr>
        <p:spPr>
          <a:xfrm>
            <a:off x="4892040" y="3375694"/>
            <a:ext cx="6858000" cy="2301173"/>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21" name="Image 2" descr="Appel via la gateway : HTTP 200 et liste paginée"/>
          <p:cNvPicPr>
            <a:picLocks noChangeAspect="1"/>
          </p:cNvPicPr>
          <p:nvPr/>
        </p:nvPicPr>
        <p:blipFill>
          <a:blip r:embed="rId5"/>
          <a:stretch>
            <a:fillRect/>
          </a:stretch>
        </p:blipFill>
        <p:spPr>
          <a:xfrm>
            <a:off x="4937760" y="3421414"/>
            <a:ext cx="6766560" cy="2209733"/>
          </a:xfrm>
          <a:prstGeom prst="rect">
            <a:avLst/>
          </a:prstGeom>
        </p:spPr>
      </p:pic>
      <p:sp>
        <p:nvSpPr>
          <p:cNvPr id="22" name="pastille"/>
          <p:cNvSpPr txBox="1"/>
          <p:nvPr/>
        </p:nvSpPr>
        <p:spPr>
          <a:xfrm>
            <a:off x="4937760" y="5833872"/>
            <a:ext cx="2651760" cy="329184"/>
          </a:xfrm>
          <a:prstGeom prst="roundRect">
            <a:avLst>
              <a:gd name="adj" fmla="val 50000"/>
            </a:avLst>
          </a:prstGeom>
          <a:solidFill>
            <a:schemeClr val="accent3"/>
          </a:solidFill>
          <a:ln>
            <a:solidFill>
              <a:schemeClr val="accent3"/>
            </a:solidFill>
          </a:ln>
        </p:spPr>
        <p:txBody>
          <a:bodyPr wrap="square" lIns="0" tIns="0" rIns="0" bIns="0" rtlCol="0" anchor="ctr"/>
          <a:lstStyle/>
          <a:p>
            <a:pPr marL="0" indent="0" algn="ctr">
              <a:buNone/>
            </a:pPr>
            <a:r>
              <a:rPr lang="en-US" sz="1200" b="1" dirty="0">
                <a:solidFill>
                  <a:schemeClr val="bg1"/>
                </a:solidFill>
              </a:rPr>
              <a:t>200 OK via le port 8082</a:t>
            </a:r>
            <a:endParaRPr lang="en-US" sz="1200" dirty="0"/>
          </a:p>
        </p:txBody>
      </p:sp>
      <p:sp>
        <p:nvSpPr>
          <p:cNvPr id="23" name="Text 18"/>
          <p:cNvSpPr txBox="1"/>
          <p:nvPr/>
        </p:nvSpPr>
        <p:spPr>
          <a:xfrm>
            <a:off x="7726680" y="5833872"/>
            <a:ext cx="4023360" cy="329184"/>
          </a:xfrm>
          <a:prstGeom prst="rect">
            <a:avLst/>
          </a:prstGeom>
          <a:noFill/>
          <a:ln/>
        </p:spPr>
        <p:txBody>
          <a:bodyPr wrap="square" lIns="0" tIns="0" rIns="0" bIns="0" rtlCol="0" anchor="ctr"/>
          <a:lstStyle/>
          <a:p>
            <a:pPr marL="0" indent="0">
              <a:buNone/>
            </a:pPr>
            <a:r>
              <a:rPr lang="en-US" sz="1200" dirty="0">
                <a:solidFill>
                  <a:schemeClr val="accent6"/>
                </a:solidFill>
              </a:rPr>
              <a:t>Les en-têtes X-Gravitee-* prouvent que la réponse a traversé la gateway.</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Plan d'accès, application et souscription</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YAMEOGO Fiacre D. T.</a:t>
            </a:r>
            <a:endParaRPr lang="en-US" sz="1200" dirty="0"/>
          </a:p>
        </p:txBody>
      </p:sp>
      <p:sp>
        <p:nvSpPr>
          <p:cNvPr id="4" name="icone-FaKey"/>
          <p:cNvSpPr/>
          <p:nvPr/>
        </p:nvSpPr>
        <p:spPr>
          <a:xfrm>
            <a:off x="457200" y="1371600"/>
            <a:ext cx="640080" cy="640080"/>
          </a:xfrm>
          <a:prstGeom prst="ellipse">
            <a:avLst/>
          </a:prstGeom>
          <a:solidFill>
            <a:schemeClr val="accent2"/>
          </a:solidFill>
          <a:ln w="12700">
            <a:solidFill>
              <a:schemeClr val="accent2"/>
            </a:solidFill>
            <a:prstDash val="solid"/>
          </a:ln>
        </p:spPr>
        <p:txBody>
          <a:bodyPr/>
          <a:lstStyle/>
          <a:p>
            <a:endParaRPr lang="fr-FR"/>
          </a:p>
        </p:txBody>
      </p:sp>
      <p:pic>
        <p:nvPicPr>
          <p:cNvPr id="5" name="Image 0" descr="FaKey"/>
          <p:cNvPicPr>
            <a:picLocks noChangeAspect="1"/>
          </p:cNvPicPr>
          <p:nvPr/>
        </p:nvPicPr>
        <p:blipFill>
          <a:blip r:embed="rId3"/>
          <a:stretch>
            <a:fillRect/>
          </a:stretch>
        </p:blipFill>
        <p:spPr>
          <a:xfrm>
            <a:off x="636422" y="1550822"/>
            <a:ext cx="281635" cy="281635"/>
          </a:xfrm>
          <a:prstGeom prst="rect">
            <a:avLst/>
          </a:prstGeom>
        </p:spPr>
      </p:pic>
      <p:sp>
        <p:nvSpPr>
          <p:cNvPr id="6" name="Text 3"/>
          <p:cNvSpPr txBox="1"/>
          <p:nvPr/>
        </p:nvSpPr>
        <p:spPr>
          <a:xfrm>
            <a:off x="1280160" y="1371600"/>
            <a:ext cx="3566160" cy="347472"/>
          </a:xfrm>
          <a:prstGeom prst="rect">
            <a:avLst/>
          </a:prstGeom>
          <a:noFill/>
          <a:ln/>
        </p:spPr>
        <p:txBody>
          <a:bodyPr wrap="square" lIns="0" tIns="0" rIns="0" bIns="0" rtlCol="0" anchor="ctr"/>
          <a:lstStyle/>
          <a:p>
            <a:pPr marL="0" indent="0">
              <a:buNone/>
            </a:pPr>
            <a:r>
              <a:rPr lang="en-US" sz="1700" b="1" dirty="0">
                <a:solidFill>
                  <a:schemeClr val="tx2"/>
                </a:solidFill>
              </a:rPr>
              <a:t>Plan « Standard »</a:t>
            </a:r>
            <a:endParaRPr lang="en-US" sz="1700" dirty="0"/>
          </a:p>
        </p:txBody>
      </p:sp>
      <p:sp>
        <p:nvSpPr>
          <p:cNvPr id="7" name="Text 4"/>
          <p:cNvSpPr txBox="1"/>
          <p:nvPr/>
        </p:nvSpPr>
        <p:spPr>
          <a:xfrm>
            <a:off x="1280160" y="1737360"/>
            <a:ext cx="3566160" cy="731520"/>
          </a:xfrm>
          <a:prstGeom prst="rect">
            <a:avLst/>
          </a:prstGeom>
          <a:noFill/>
          <a:ln/>
        </p:spPr>
        <p:txBody>
          <a:bodyPr wrap="square" lIns="0" tIns="0" rIns="0" bIns="0" rtlCol="0" anchor="t"/>
          <a:lstStyle/>
          <a:p>
            <a:pPr marL="0" indent="0">
              <a:buNone/>
            </a:pPr>
            <a:r>
              <a:rPr lang="en-US" sz="1400" dirty="0">
                <a:solidFill>
                  <a:schemeClr val="tx1"/>
                </a:solidFill>
              </a:rPr>
              <a:t>Type API Key · 5 requêtes / 10 s · 1 000 / jour · validation manuelle</a:t>
            </a:r>
            <a:endParaRPr lang="en-US" sz="1400" dirty="0"/>
          </a:p>
        </p:txBody>
      </p:sp>
      <p:sp>
        <p:nvSpPr>
          <p:cNvPr id="8" name="fleche"/>
          <p:cNvSpPr/>
          <p:nvPr/>
        </p:nvSpPr>
        <p:spPr>
          <a:xfrm>
            <a:off x="777240" y="2057400"/>
            <a:ext cx="0" cy="475488"/>
          </a:xfrm>
          <a:prstGeom prst="line">
            <a:avLst/>
          </a:prstGeom>
          <a:noFill/>
          <a:ln w="19050">
            <a:solidFill>
              <a:srgbClr val="5B6B70"/>
            </a:solidFill>
            <a:prstDash val="solid"/>
            <a:tailEnd type="triangle"/>
          </a:ln>
        </p:spPr>
        <p:txBody>
          <a:bodyPr/>
          <a:lstStyle/>
          <a:p>
            <a:endParaRPr lang="fr-FR"/>
          </a:p>
        </p:txBody>
      </p:sp>
      <p:sp>
        <p:nvSpPr>
          <p:cNvPr id="9" name="icone-FaMobileAlt"/>
          <p:cNvSpPr/>
          <p:nvPr/>
        </p:nvSpPr>
        <p:spPr>
          <a:xfrm>
            <a:off x="457200" y="2560320"/>
            <a:ext cx="640080" cy="640080"/>
          </a:xfrm>
          <a:prstGeom prst="ellipse">
            <a:avLst/>
          </a:prstGeom>
          <a:solidFill>
            <a:schemeClr val="accent2"/>
          </a:solidFill>
          <a:ln w="12700">
            <a:solidFill>
              <a:schemeClr val="accent2"/>
            </a:solidFill>
            <a:prstDash val="solid"/>
          </a:ln>
        </p:spPr>
        <p:txBody>
          <a:bodyPr/>
          <a:lstStyle/>
          <a:p>
            <a:endParaRPr lang="fr-FR"/>
          </a:p>
        </p:txBody>
      </p:sp>
      <p:pic>
        <p:nvPicPr>
          <p:cNvPr id="10" name="Image 1" descr="FaMobileAlt"/>
          <p:cNvPicPr>
            <a:picLocks noChangeAspect="1"/>
          </p:cNvPicPr>
          <p:nvPr/>
        </p:nvPicPr>
        <p:blipFill>
          <a:blip r:embed="rId4"/>
          <a:stretch>
            <a:fillRect/>
          </a:stretch>
        </p:blipFill>
        <p:spPr>
          <a:xfrm>
            <a:off x="636422" y="2739542"/>
            <a:ext cx="281635" cy="281635"/>
          </a:xfrm>
          <a:prstGeom prst="rect">
            <a:avLst/>
          </a:prstGeom>
        </p:spPr>
      </p:pic>
      <p:sp>
        <p:nvSpPr>
          <p:cNvPr id="11" name="Text 7"/>
          <p:cNvSpPr txBox="1"/>
          <p:nvPr/>
        </p:nvSpPr>
        <p:spPr>
          <a:xfrm>
            <a:off x="1280160" y="2560320"/>
            <a:ext cx="3566160" cy="347472"/>
          </a:xfrm>
          <a:prstGeom prst="rect">
            <a:avLst/>
          </a:prstGeom>
          <a:noFill/>
          <a:ln/>
        </p:spPr>
        <p:txBody>
          <a:bodyPr wrap="square" lIns="0" tIns="0" rIns="0" bIns="0" rtlCol="0" anchor="ctr"/>
          <a:lstStyle/>
          <a:p>
            <a:pPr marL="0" indent="0">
              <a:buNone/>
            </a:pPr>
            <a:r>
              <a:rPr lang="en-US" sz="1700" b="1" dirty="0">
                <a:solidFill>
                  <a:schemeClr val="tx2"/>
                </a:solidFill>
              </a:rPr>
              <a:t>Application</a:t>
            </a:r>
            <a:endParaRPr lang="en-US" sz="1700" dirty="0"/>
          </a:p>
        </p:txBody>
      </p:sp>
      <p:sp>
        <p:nvSpPr>
          <p:cNvPr id="12" name="Text 8"/>
          <p:cNvSpPr txBox="1"/>
          <p:nvPr/>
        </p:nvSpPr>
        <p:spPr>
          <a:xfrm>
            <a:off x="1280160" y="2926080"/>
            <a:ext cx="3566160" cy="731520"/>
          </a:xfrm>
          <a:prstGeom prst="rect">
            <a:avLst/>
          </a:prstGeom>
          <a:noFill/>
          <a:ln/>
        </p:spPr>
        <p:txBody>
          <a:bodyPr wrap="square" lIns="0" tIns="0" rIns="0" bIns="0" rtlCol="0" anchor="t"/>
          <a:lstStyle/>
          <a:p>
            <a:pPr marL="0" indent="0">
              <a:buNone/>
            </a:pPr>
            <a:r>
              <a:rPr lang="en-US" sz="1400" dirty="0">
                <a:solidFill>
                  <a:schemeClr val="tx1"/>
                </a:solidFill>
              </a:rPr>
              <a:t>« App Ministère Santé », le consommateur</a:t>
            </a:r>
            <a:endParaRPr lang="en-US" sz="1400" dirty="0"/>
          </a:p>
        </p:txBody>
      </p:sp>
      <p:sp>
        <p:nvSpPr>
          <p:cNvPr id="13" name="fleche"/>
          <p:cNvSpPr/>
          <p:nvPr/>
        </p:nvSpPr>
        <p:spPr>
          <a:xfrm>
            <a:off x="777240" y="3246120"/>
            <a:ext cx="0" cy="475488"/>
          </a:xfrm>
          <a:prstGeom prst="line">
            <a:avLst/>
          </a:prstGeom>
          <a:noFill/>
          <a:ln w="19050">
            <a:solidFill>
              <a:srgbClr val="5B6B70"/>
            </a:solidFill>
            <a:prstDash val="solid"/>
            <a:tailEnd type="triangle"/>
          </a:ln>
        </p:spPr>
        <p:txBody>
          <a:bodyPr/>
          <a:lstStyle/>
          <a:p>
            <a:endParaRPr lang="fr-FR"/>
          </a:p>
        </p:txBody>
      </p:sp>
      <p:sp>
        <p:nvSpPr>
          <p:cNvPr id="14" name="icone-FaCheckCircle"/>
          <p:cNvSpPr/>
          <p:nvPr/>
        </p:nvSpPr>
        <p:spPr>
          <a:xfrm>
            <a:off x="457200" y="3749040"/>
            <a:ext cx="640080" cy="640080"/>
          </a:xfrm>
          <a:prstGeom prst="ellipse">
            <a:avLst/>
          </a:prstGeom>
          <a:solidFill>
            <a:schemeClr val="accent2"/>
          </a:solidFill>
          <a:ln w="12700">
            <a:solidFill>
              <a:schemeClr val="accent2"/>
            </a:solidFill>
            <a:prstDash val="solid"/>
          </a:ln>
        </p:spPr>
        <p:txBody>
          <a:bodyPr/>
          <a:lstStyle/>
          <a:p>
            <a:endParaRPr lang="fr-FR"/>
          </a:p>
        </p:txBody>
      </p:sp>
      <p:pic>
        <p:nvPicPr>
          <p:cNvPr id="15" name="Image 2" descr="FaCheckCircle"/>
          <p:cNvPicPr>
            <a:picLocks noChangeAspect="1"/>
          </p:cNvPicPr>
          <p:nvPr/>
        </p:nvPicPr>
        <p:blipFill>
          <a:blip r:embed="rId5"/>
          <a:stretch>
            <a:fillRect/>
          </a:stretch>
        </p:blipFill>
        <p:spPr>
          <a:xfrm>
            <a:off x="636422" y="3928262"/>
            <a:ext cx="281635" cy="281635"/>
          </a:xfrm>
          <a:prstGeom prst="rect">
            <a:avLst/>
          </a:prstGeom>
        </p:spPr>
      </p:pic>
      <p:sp>
        <p:nvSpPr>
          <p:cNvPr id="16" name="Text 11"/>
          <p:cNvSpPr txBox="1"/>
          <p:nvPr/>
        </p:nvSpPr>
        <p:spPr>
          <a:xfrm>
            <a:off x="1280160" y="3749040"/>
            <a:ext cx="3566160" cy="347472"/>
          </a:xfrm>
          <a:prstGeom prst="rect">
            <a:avLst/>
          </a:prstGeom>
          <a:noFill/>
          <a:ln/>
        </p:spPr>
        <p:txBody>
          <a:bodyPr wrap="square" lIns="0" tIns="0" rIns="0" bIns="0" rtlCol="0" anchor="ctr"/>
          <a:lstStyle/>
          <a:p>
            <a:pPr marL="0" indent="0">
              <a:buNone/>
            </a:pPr>
            <a:r>
              <a:rPr lang="en-US" sz="1700" b="1" dirty="0">
                <a:solidFill>
                  <a:schemeClr val="tx2"/>
                </a:solidFill>
              </a:rPr>
              <a:t>Souscription</a:t>
            </a:r>
            <a:endParaRPr lang="en-US" sz="1700" dirty="0"/>
          </a:p>
        </p:txBody>
      </p:sp>
      <p:sp>
        <p:nvSpPr>
          <p:cNvPr id="17" name="Text 12"/>
          <p:cNvSpPr txBox="1"/>
          <p:nvPr/>
        </p:nvSpPr>
        <p:spPr>
          <a:xfrm>
            <a:off x="1280160" y="4114800"/>
            <a:ext cx="3566160" cy="731520"/>
          </a:xfrm>
          <a:prstGeom prst="rect">
            <a:avLst/>
          </a:prstGeom>
          <a:noFill/>
          <a:ln/>
        </p:spPr>
        <p:txBody>
          <a:bodyPr wrap="square" lIns="0" tIns="0" rIns="0" bIns="0" rtlCol="0" anchor="t"/>
          <a:lstStyle/>
          <a:p>
            <a:pPr marL="0" indent="0">
              <a:buNone/>
            </a:pPr>
            <a:r>
              <a:rPr lang="en-US" sz="1400" dirty="0">
                <a:solidFill>
                  <a:schemeClr val="tx1"/>
                </a:solidFill>
              </a:rPr>
              <a:t>L'application souscrit au plan ; l'éditeur valide</a:t>
            </a:r>
            <a:endParaRPr lang="en-US" sz="1400" dirty="0"/>
          </a:p>
        </p:txBody>
      </p:sp>
      <p:sp>
        <p:nvSpPr>
          <p:cNvPr id="18" name="fleche"/>
          <p:cNvSpPr/>
          <p:nvPr/>
        </p:nvSpPr>
        <p:spPr>
          <a:xfrm>
            <a:off x="777240" y="4434840"/>
            <a:ext cx="0" cy="475488"/>
          </a:xfrm>
          <a:prstGeom prst="line">
            <a:avLst/>
          </a:prstGeom>
          <a:noFill/>
          <a:ln w="19050">
            <a:solidFill>
              <a:srgbClr val="5B6B70"/>
            </a:solidFill>
            <a:prstDash val="solid"/>
            <a:tailEnd type="triangle"/>
          </a:ln>
        </p:spPr>
        <p:txBody>
          <a:bodyPr/>
          <a:lstStyle/>
          <a:p>
            <a:endParaRPr lang="fr-FR"/>
          </a:p>
        </p:txBody>
      </p:sp>
      <p:sp>
        <p:nvSpPr>
          <p:cNvPr id="19" name="icone-FaLock"/>
          <p:cNvSpPr/>
          <p:nvPr/>
        </p:nvSpPr>
        <p:spPr>
          <a:xfrm>
            <a:off x="457200" y="4937760"/>
            <a:ext cx="640080" cy="640080"/>
          </a:xfrm>
          <a:prstGeom prst="ellipse">
            <a:avLst/>
          </a:prstGeom>
          <a:solidFill>
            <a:schemeClr val="accent2"/>
          </a:solidFill>
          <a:ln w="12700">
            <a:solidFill>
              <a:schemeClr val="accent2"/>
            </a:solidFill>
            <a:prstDash val="solid"/>
          </a:ln>
        </p:spPr>
        <p:txBody>
          <a:bodyPr/>
          <a:lstStyle/>
          <a:p>
            <a:endParaRPr lang="fr-FR"/>
          </a:p>
        </p:txBody>
      </p:sp>
      <p:pic>
        <p:nvPicPr>
          <p:cNvPr id="20" name="Image 3" descr="FaLock"/>
          <p:cNvPicPr>
            <a:picLocks noChangeAspect="1"/>
          </p:cNvPicPr>
          <p:nvPr/>
        </p:nvPicPr>
        <p:blipFill>
          <a:blip r:embed="rId6"/>
          <a:stretch>
            <a:fillRect/>
          </a:stretch>
        </p:blipFill>
        <p:spPr>
          <a:xfrm>
            <a:off x="636422" y="5116982"/>
            <a:ext cx="281635" cy="281635"/>
          </a:xfrm>
          <a:prstGeom prst="rect">
            <a:avLst/>
          </a:prstGeom>
        </p:spPr>
      </p:pic>
      <p:sp>
        <p:nvSpPr>
          <p:cNvPr id="21" name="Text 15"/>
          <p:cNvSpPr txBox="1"/>
          <p:nvPr/>
        </p:nvSpPr>
        <p:spPr>
          <a:xfrm>
            <a:off x="1280160" y="4937760"/>
            <a:ext cx="3566160" cy="347472"/>
          </a:xfrm>
          <a:prstGeom prst="rect">
            <a:avLst/>
          </a:prstGeom>
          <a:noFill/>
          <a:ln/>
        </p:spPr>
        <p:txBody>
          <a:bodyPr wrap="square" lIns="0" tIns="0" rIns="0" bIns="0" rtlCol="0" anchor="ctr"/>
          <a:lstStyle/>
          <a:p>
            <a:pPr marL="0" indent="0">
              <a:buNone/>
            </a:pPr>
            <a:r>
              <a:rPr lang="en-US" sz="1700" b="1" dirty="0">
                <a:solidFill>
                  <a:schemeClr val="tx2"/>
                </a:solidFill>
              </a:rPr>
              <a:t>Clé d'API</a:t>
            </a:r>
            <a:endParaRPr lang="en-US" sz="1700" dirty="0"/>
          </a:p>
        </p:txBody>
      </p:sp>
      <p:sp>
        <p:nvSpPr>
          <p:cNvPr id="22" name="Text 16"/>
          <p:cNvSpPr txBox="1"/>
          <p:nvPr/>
        </p:nvSpPr>
        <p:spPr>
          <a:xfrm>
            <a:off x="1280160" y="5303520"/>
            <a:ext cx="3566160" cy="731520"/>
          </a:xfrm>
          <a:prstGeom prst="rect">
            <a:avLst/>
          </a:prstGeom>
          <a:noFill/>
          <a:ln/>
        </p:spPr>
        <p:txBody>
          <a:bodyPr wrap="square" lIns="0" tIns="0" rIns="0" bIns="0" rtlCol="0" anchor="t"/>
          <a:lstStyle/>
          <a:p>
            <a:pPr marL="0" indent="0">
              <a:buNone/>
            </a:pPr>
            <a:r>
              <a:rPr lang="en-US" sz="1400" dirty="0">
                <a:solidFill>
                  <a:schemeClr val="tx1"/>
                </a:solidFill>
              </a:rPr>
              <a:t>À envoyer dans l'en-tête X-Gravitee-Api-Key</a:t>
            </a:r>
            <a:endParaRPr lang="en-US" sz="1400" dirty="0"/>
          </a:p>
        </p:txBody>
      </p:sp>
      <p:sp>
        <p:nvSpPr>
          <p:cNvPr id="23" name="pastille"/>
          <p:cNvSpPr txBox="1"/>
          <p:nvPr/>
        </p:nvSpPr>
        <p:spPr>
          <a:xfrm>
            <a:off x="5303520" y="1371600"/>
            <a:ext cx="82296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marL="0" indent="0" algn="ctr">
              <a:buNone/>
            </a:pPr>
            <a:r>
              <a:rPr lang="en-US" sz="1200" b="1" dirty="0">
                <a:solidFill>
                  <a:schemeClr val="bg1"/>
                </a:solidFill>
              </a:rPr>
              <a:t>401</a:t>
            </a:r>
            <a:endParaRPr lang="en-US" sz="1200" dirty="0"/>
          </a:p>
        </p:txBody>
      </p:sp>
      <p:sp>
        <p:nvSpPr>
          <p:cNvPr id="24" name="Text 18"/>
          <p:cNvSpPr txBox="1"/>
          <p:nvPr/>
        </p:nvSpPr>
        <p:spPr>
          <a:xfrm>
            <a:off x="6263640" y="1371600"/>
            <a:ext cx="5394960" cy="329184"/>
          </a:xfrm>
          <a:prstGeom prst="rect">
            <a:avLst/>
          </a:prstGeom>
          <a:noFill/>
          <a:ln/>
        </p:spPr>
        <p:txBody>
          <a:bodyPr wrap="square" lIns="0" tIns="0" rIns="0" bIns="0" rtlCol="0" anchor="ctr"/>
          <a:lstStyle/>
          <a:p>
            <a:pPr marL="0" indent="0">
              <a:buNone/>
            </a:pPr>
            <a:r>
              <a:rPr lang="en-US" sz="1400" b="1" dirty="0">
                <a:solidFill>
                  <a:schemeClr val="tx1"/>
                </a:solidFill>
              </a:rPr>
              <a:t>Sans clé, la gateway refuse l'accès</a:t>
            </a:r>
            <a:endParaRPr lang="en-US" sz="1400" dirty="0"/>
          </a:p>
        </p:txBody>
      </p:sp>
      <p:sp>
        <p:nvSpPr>
          <p:cNvPr id="25" name="cadre-B3-test-401.png"/>
          <p:cNvSpPr/>
          <p:nvPr/>
        </p:nvSpPr>
        <p:spPr>
          <a:xfrm>
            <a:off x="5257800" y="1785897"/>
            <a:ext cx="6492240" cy="1686005"/>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26" name="Image 4" descr="Appel sans clé : 401 Unauthorized"/>
          <p:cNvPicPr>
            <a:picLocks noChangeAspect="1"/>
          </p:cNvPicPr>
          <p:nvPr/>
        </p:nvPicPr>
        <p:blipFill>
          <a:blip r:embed="rId7"/>
          <a:stretch>
            <a:fillRect/>
          </a:stretch>
        </p:blipFill>
        <p:spPr>
          <a:xfrm>
            <a:off x="5303520" y="1831617"/>
            <a:ext cx="6400800" cy="1594565"/>
          </a:xfrm>
          <a:prstGeom prst="rect">
            <a:avLst/>
          </a:prstGeom>
        </p:spPr>
      </p:pic>
      <p:sp>
        <p:nvSpPr>
          <p:cNvPr id="27" name="pastille"/>
          <p:cNvSpPr txBox="1"/>
          <p:nvPr/>
        </p:nvSpPr>
        <p:spPr>
          <a:xfrm>
            <a:off x="5303520" y="3703320"/>
            <a:ext cx="822960" cy="329184"/>
          </a:xfrm>
          <a:prstGeom prst="roundRect">
            <a:avLst>
              <a:gd name="adj" fmla="val 50000"/>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bg1"/>
                </a:solidFill>
              </a:rPr>
              <a:t>429</a:t>
            </a:r>
            <a:endParaRPr lang="en-US" sz="1200" dirty="0"/>
          </a:p>
        </p:txBody>
      </p:sp>
      <p:sp>
        <p:nvSpPr>
          <p:cNvPr id="28" name="Text 21"/>
          <p:cNvSpPr txBox="1"/>
          <p:nvPr/>
        </p:nvSpPr>
        <p:spPr>
          <a:xfrm>
            <a:off x="6263640" y="3703320"/>
            <a:ext cx="5394960" cy="329184"/>
          </a:xfrm>
          <a:prstGeom prst="rect">
            <a:avLst/>
          </a:prstGeom>
          <a:noFill/>
          <a:ln/>
        </p:spPr>
        <p:txBody>
          <a:bodyPr wrap="square" lIns="0" tIns="0" rIns="0" bIns="0" rtlCol="0" anchor="ctr"/>
          <a:lstStyle/>
          <a:p>
            <a:pPr marL="0" indent="0">
              <a:buNone/>
            </a:pPr>
            <a:r>
              <a:rPr lang="en-US" sz="1400" b="1" dirty="0">
                <a:solidFill>
                  <a:schemeClr val="tx1"/>
                </a:solidFill>
              </a:rPr>
              <a:t>Avec la clé : 5 appels acceptés, puis quota dépassé</a:t>
            </a:r>
            <a:endParaRPr lang="en-US" sz="1400" dirty="0"/>
          </a:p>
        </p:txBody>
      </p:sp>
      <p:sp>
        <p:nvSpPr>
          <p:cNvPr id="29" name="cadre-C5-test-429.png"/>
          <p:cNvSpPr/>
          <p:nvPr/>
        </p:nvSpPr>
        <p:spPr>
          <a:xfrm>
            <a:off x="5257800" y="4120620"/>
            <a:ext cx="6492240" cy="1771440"/>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30" name="Image 5" descr="Rafale de 8 appels : 200 x5 puis 429"/>
          <p:cNvPicPr>
            <a:picLocks noChangeAspect="1"/>
          </p:cNvPicPr>
          <p:nvPr/>
        </p:nvPicPr>
        <p:blipFill>
          <a:blip r:embed="rId8"/>
          <a:stretch>
            <a:fillRect/>
          </a:stretch>
        </p:blipFill>
        <p:spPr>
          <a:xfrm>
            <a:off x="5303520" y="4166340"/>
            <a:ext cx="6400800" cy="1680000"/>
          </a:xfrm>
          <a:prstGeom prst="rect">
            <a:avLst/>
          </a:prstGeom>
        </p:spPr>
      </p:pic>
      <p:sp>
        <p:nvSpPr>
          <p:cNvPr id="31"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Cycle de vie : états et version 2</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OUEDRAOGO D. Adan F.</a:t>
            </a:r>
            <a:endParaRPr lang="en-US" sz="1200" dirty="0"/>
          </a:p>
        </p:txBody>
      </p:sp>
      <p:sp>
        <p:nvSpPr>
          <p:cNvPr id="4" name="pastille"/>
          <p:cNvSpPr txBox="1"/>
          <p:nvPr/>
        </p:nvSpPr>
        <p:spPr>
          <a:xfrm>
            <a:off x="457200" y="1600200"/>
            <a:ext cx="2194560" cy="502920"/>
          </a:xfrm>
          <a:prstGeom prst="roundRect">
            <a:avLst>
              <a:gd name="adj" fmla="val 32727"/>
            </a:avLst>
          </a:prstGeom>
          <a:solidFill>
            <a:schemeClr val="accent6"/>
          </a:solidFill>
          <a:ln>
            <a:solidFill>
              <a:schemeClr val="accent6"/>
            </a:solidFill>
          </a:ln>
        </p:spPr>
        <p:txBody>
          <a:bodyPr wrap="square" lIns="0" tIns="0" rIns="0" bIns="0" rtlCol="0" anchor="ctr"/>
          <a:lstStyle/>
          <a:p>
            <a:pPr marL="0" indent="0" algn="ctr">
              <a:buNone/>
            </a:pPr>
            <a:r>
              <a:rPr lang="en-US" sz="1500" b="1" dirty="0">
                <a:solidFill>
                  <a:schemeClr val="bg1"/>
                </a:solidFill>
              </a:rPr>
              <a:t>CREATED</a:t>
            </a:r>
            <a:endParaRPr lang="en-US" sz="1500" dirty="0"/>
          </a:p>
        </p:txBody>
      </p:sp>
      <p:sp>
        <p:nvSpPr>
          <p:cNvPr id="5" name="Text 3"/>
          <p:cNvSpPr txBox="1"/>
          <p:nvPr/>
        </p:nvSpPr>
        <p:spPr>
          <a:xfrm>
            <a:off x="457200" y="1234440"/>
            <a:ext cx="2194560" cy="320040"/>
          </a:xfrm>
          <a:prstGeom prst="rect">
            <a:avLst/>
          </a:prstGeom>
          <a:noFill/>
          <a:ln/>
        </p:spPr>
        <p:txBody>
          <a:bodyPr wrap="square" lIns="0" tIns="0" rIns="0" bIns="0" rtlCol="0" anchor="ctr"/>
          <a:lstStyle/>
          <a:p>
            <a:pPr marL="0" indent="0" algn="ctr">
              <a:buNone/>
            </a:pPr>
            <a:r>
              <a:rPr lang="en-US" sz="1200" dirty="0">
                <a:solidFill>
                  <a:schemeClr val="accent6"/>
                </a:solidFill>
              </a:rPr>
              <a:t>Import</a:t>
            </a:r>
            <a:endParaRPr lang="en-US" sz="1200" dirty="0"/>
          </a:p>
        </p:txBody>
      </p:sp>
      <p:sp>
        <p:nvSpPr>
          <p:cNvPr id="6" name="fleche"/>
          <p:cNvSpPr/>
          <p:nvPr/>
        </p:nvSpPr>
        <p:spPr>
          <a:xfrm>
            <a:off x="2697480" y="1847088"/>
            <a:ext cx="594360" cy="0"/>
          </a:xfrm>
          <a:prstGeom prst="line">
            <a:avLst/>
          </a:prstGeom>
          <a:noFill/>
          <a:ln w="19050">
            <a:solidFill>
              <a:srgbClr val="5B6B70"/>
            </a:solidFill>
            <a:prstDash val="solid"/>
            <a:tailEnd type="triangle"/>
          </a:ln>
        </p:spPr>
        <p:txBody>
          <a:bodyPr/>
          <a:lstStyle/>
          <a:p>
            <a:endParaRPr lang="fr-FR"/>
          </a:p>
        </p:txBody>
      </p:sp>
      <p:sp>
        <p:nvSpPr>
          <p:cNvPr id="7" name="pastille"/>
          <p:cNvSpPr txBox="1"/>
          <p:nvPr/>
        </p:nvSpPr>
        <p:spPr>
          <a:xfrm>
            <a:off x="3337560" y="1600200"/>
            <a:ext cx="2194560" cy="502920"/>
          </a:xfrm>
          <a:prstGeom prst="roundRect">
            <a:avLst>
              <a:gd name="adj" fmla="val 32727"/>
            </a:avLst>
          </a:prstGeom>
          <a:solidFill>
            <a:schemeClr val="accent3"/>
          </a:solidFill>
          <a:ln>
            <a:solidFill>
              <a:schemeClr val="accent3"/>
            </a:solidFill>
          </a:ln>
        </p:spPr>
        <p:txBody>
          <a:bodyPr wrap="square" lIns="0" tIns="0" rIns="0" bIns="0" rtlCol="0" anchor="ctr"/>
          <a:lstStyle/>
          <a:p>
            <a:pPr marL="0" indent="0" algn="ctr">
              <a:buNone/>
            </a:pPr>
            <a:r>
              <a:rPr lang="en-US" sz="1500" b="1" dirty="0">
                <a:solidFill>
                  <a:schemeClr val="bg1"/>
                </a:solidFill>
              </a:rPr>
              <a:t>PUBLISHED</a:t>
            </a:r>
            <a:endParaRPr lang="en-US" sz="1500" dirty="0"/>
          </a:p>
        </p:txBody>
      </p:sp>
      <p:sp>
        <p:nvSpPr>
          <p:cNvPr id="8" name="Text 6"/>
          <p:cNvSpPr txBox="1"/>
          <p:nvPr/>
        </p:nvSpPr>
        <p:spPr>
          <a:xfrm>
            <a:off x="3337560" y="1234440"/>
            <a:ext cx="2194560" cy="320040"/>
          </a:xfrm>
          <a:prstGeom prst="rect">
            <a:avLst/>
          </a:prstGeom>
          <a:noFill/>
          <a:ln/>
        </p:spPr>
        <p:txBody>
          <a:bodyPr wrap="square" lIns="0" tIns="0" rIns="0" bIns="0" rtlCol="0" anchor="ctr"/>
          <a:lstStyle/>
          <a:p>
            <a:pPr marL="0" indent="0" algn="ctr">
              <a:buNone/>
            </a:pPr>
            <a:r>
              <a:rPr lang="en-US" sz="1200" dirty="0">
                <a:solidFill>
                  <a:schemeClr val="accent6"/>
                </a:solidFill>
              </a:rPr>
              <a:t>Publish the API</a:t>
            </a:r>
            <a:endParaRPr lang="en-US" sz="1200" dirty="0"/>
          </a:p>
        </p:txBody>
      </p:sp>
      <p:sp>
        <p:nvSpPr>
          <p:cNvPr id="9" name="fleche"/>
          <p:cNvSpPr/>
          <p:nvPr/>
        </p:nvSpPr>
        <p:spPr>
          <a:xfrm>
            <a:off x="5577840" y="1847088"/>
            <a:ext cx="594360" cy="0"/>
          </a:xfrm>
          <a:prstGeom prst="line">
            <a:avLst/>
          </a:prstGeom>
          <a:noFill/>
          <a:ln w="19050">
            <a:solidFill>
              <a:srgbClr val="5B6B70"/>
            </a:solidFill>
            <a:prstDash val="solid"/>
            <a:tailEnd type="triangle"/>
          </a:ln>
        </p:spPr>
        <p:txBody>
          <a:bodyPr/>
          <a:lstStyle/>
          <a:p>
            <a:endParaRPr lang="fr-FR"/>
          </a:p>
        </p:txBody>
      </p:sp>
      <p:sp>
        <p:nvSpPr>
          <p:cNvPr id="10" name="pastille"/>
          <p:cNvSpPr txBox="1"/>
          <p:nvPr/>
        </p:nvSpPr>
        <p:spPr>
          <a:xfrm>
            <a:off x="6217920" y="1600200"/>
            <a:ext cx="2194560" cy="502920"/>
          </a:xfrm>
          <a:prstGeom prst="roundRect">
            <a:avLst>
              <a:gd name="adj" fmla="val 32727"/>
            </a:avLst>
          </a:prstGeom>
          <a:solidFill>
            <a:schemeClr val="accent5"/>
          </a:solidFill>
          <a:ln>
            <a:solidFill>
              <a:schemeClr val="accent5"/>
            </a:solidFill>
          </a:ln>
        </p:spPr>
        <p:txBody>
          <a:bodyPr wrap="square" lIns="0" tIns="0" rIns="0" bIns="0" rtlCol="0" anchor="ctr"/>
          <a:lstStyle/>
          <a:p>
            <a:pPr marL="0" indent="0" algn="ctr">
              <a:buNone/>
            </a:pPr>
            <a:r>
              <a:rPr lang="en-US" sz="1500" b="1" dirty="0">
                <a:solidFill>
                  <a:schemeClr val="bg1"/>
                </a:solidFill>
              </a:rPr>
              <a:t>UNPUBLISHED</a:t>
            </a:r>
            <a:endParaRPr lang="en-US" sz="1500" dirty="0"/>
          </a:p>
        </p:txBody>
      </p:sp>
      <p:sp>
        <p:nvSpPr>
          <p:cNvPr id="11" name="Text 9"/>
          <p:cNvSpPr txBox="1"/>
          <p:nvPr/>
        </p:nvSpPr>
        <p:spPr>
          <a:xfrm>
            <a:off x="6217920" y="1234440"/>
            <a:ext cx="2194560" cy="320040"/>
          </a:xfrm>
          <a:prstGeom prst="rect">
            <a:avLst/>
          </a:prstGeom>
          <a:noFill/>
          <a:ln/>
        </p:spPr>
        <p:txBody>
          <a:bodyPr wrap="square" lIns="0" tIns="0" rIns="0" bIns="0" rtlCol="0" anchor="ctr"/>
          <a:lstStyle/>
          <a:p>
            <a:pPr marL="0" indent="0" algn="ctr">
              <a:buNone/>
            </a:pPr>
            <a:r>
              <a:rPr lang="en-US" sz="1200" dirty="0">
                <a:solidFill>
                  <a:schemeClr val="accent6"/>
                </a:solidFill>
              </a:rPr>
              <a:t>Unpublish the API</a:t>
            </a:r>
            <a:endParaRPr lang="en-US" sz="1200" dirty="0"/>
          </a:p>
        </p:txBody>
      </p:sp>
      <p:sp>
        <p:nvSpPr>
          <p:cNvPr id="12" name="fleche"/>
          <p:cNvSpPr/>
          <p:nvPr/>
        </p:nvSpPr>
        <p:spPr>
          <a:xfrm>
            <a:off x="8458200" y="1847088"/>
            <a:ext cx="594360" cy="0"/>
          </a:xfrm>
          <a:prstGeom prst="line">
            <a:avLst/>
          </a:prstGeom>
          <a:noFill/>
          <a:ln w="19050">
            <a:solidFill>
              <a:srgbClr val="5B6B70"/>
            </a:solidFill>
            <a:prstDash val="solid"/>
            <a:tailEnd type="triangle"/>
          </a:ln>
        </p:spPr>
        <p:txBody>
          <a:bodyPr/>
          <a:lstStyle/>
          <a:p>
            <a:endParaRPr lang="fr-FR"/>
          </a:p>
        </p:txBody>
      </p:sp>
      <p:sp>
        <p:nvSpPr>
          <p:cNvPr id="13" name="pastille"/>
          <p:cNvSpPr txBox="1"/>
          <p:nvPr/>
        </p:nvSpPr>
        <p:spPr>
          <a:xfrm>
            <a:off x="9098280" y="1600200"/>
            <a:ext cx="2194560" cy="502920"/>
          </a:xfrm>
          <a:prstGeom prst="roundRect">
            <a:avLst>
              <a:gd name="adj" fmla="val 32727"/>
            </a:avLst>
          </a:prstGeom>
          <a:solidFill>
            <a:schemeClr val="accent3"/>
          </a:solidFill>
          <a:ln>
            <a:solidFill>
              <a:schemeClr val="accent3"/>
            </a:solidFill>
          </a:ln>
        </p:spPr>
        <p:txBody>
          <a:bodyPr wrap="square" lIns="0" tIns="0" rIns="0" bIns="0" rtlCol="0" anchor="ctr"/>
          <a:lstStyle/>
          <a:p>
            <a:pPr marL="0" indent="0" algn="ctr">
              <a:buNone/>
            </a:pPr>
            <a:r>
              <a:rPr lang="en-US" sz="1500" b="1" dirty="0">
                <a:solidFill>
                  <a:schemeClr val="bg1"/>
                </a:solidFill>
              </a:rPr>
              <a:t>PUBLISHED</a:t>
            </a:r>
            <a:endParaRPr lang="en-US" sz="1500" dirty="0"/>
          </a:p>
        </p:txBody>
      </p:sp>
      <p:sp>
        <p:nvSpPr>
          <p:cNvPr id="14" name="Text 12"/>
          <p:cNvSpPr txBox="1"/>
          <p:nvPr/>
        </p:nvSpPr>
        <p:spPr>
          <a:xfrm>
            <a:off x="9098280" y="1234440"/>
            <a:ext cx="2194560" cy="320040"/>
          </a:xfrm>
          <a:prstGeom prst="rect">
            <a:avLst/>
          </a:prstGeom>
          <a:noFill/>
          <a:ln/>
        </p:spPr>
        <p:txBody>
          <a:bodyPr wrap="square" lIns="0" tIns="0" rIns="0" bIns="0" rtlCol="0" anchor="ctr"/>
          <a:lstStyle/>
          <a:p>
            <a:pPr marL="0" indent="0" algn="ctr">
              <a:buNone/>
            </a:pPr>
            <a:r>
              <a:rPr lang="en-US" sz="1200" dirty="0">
                <a:solidFill>
                  <a:schemeClr val="accent6"/>
                </a:solidFill>
              </a:rPr>
              <a:t>Publish the API</a:t>
            </a:r>
            <a:endParaRPr lang="en-US" sz="1200" dirty="0"/>
          </a:p>
        </p:txBody>
      </p:sp>
      <p:sp>
        <p:nvSpPr>
          <p:cNvPr id="15" name="Text 13"/>
          <p:cNvSpPr txBox="1"/>
          <p:nvPr/>
        </p:nvSpPr>
        <p:spPr>
          <a:xfrm>
            <a:off x="457200" y="2194560"/>
            <a:ext cx="5486400" cy="320040"/>
          </a:xfrm>
          <a:prstGeom prst="rect">
            <a:avLst/>
          </a:prstGeom>
          <a:noFill/>
          <a:ln/>
        </p:spPr>
        <p:txBody>
          <a:bodyPr wrap="square" lIns="0" tIns="0" rIns="0" bIns="0" rtlCol="0" anchor="ctr"/>
          <a:lstStyle/>
          <a:p>
            <a:pPr marL="0" indent="0">
              <a:buNone/>
            </a:pPr>
            <a:r>
              <a:rPr lang="en-US" sz="1200" i="1" dirty="0">
                <a:solidFill>
                  <a:schemeClr val="accent6"/>
                </a:solidFill>
              </a:rPr>
              <a:t>Visibilité sur le portail (cycle de vie)</a:t>
            </a:r>
            <a:endParaRPr lang="en-US" sz="1200" dirty="0"/>
          </a:p>
        </p:txBody>
      </p:sp>
      <p:sp>
        <p:nvSpPr>
          <p:cNvPr id="16" name="pastille"/>
          <p:cNvSpPr txBox="1"/>
          <p:nvPr/>
        </p:nvSpPr>
        <p:spPr>
          <a:xfrm>
            <a:off x="457200" y="2606040"/>
            <a:ext cx="1463040" cy="384048"/>
          </a:xfrm>
          <a:prstGeom prst="roundRect">
            <a:avLst>
              <a:gd name="adj" fmla="val 42857"/>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STARTED</a:t>
            </a:r>
            <a:endParaRPr lang="en-US" sz="1300" dirty="0"/>
          </a:p>
        </p:txBody>
      </p:sp>
      <p:sp>
        <p:nvSpPr>
          <p:cNvPr id="17" name="pastille"/>
          <p:cNvSpPr txBox="1"/>
          <p:nvPr/>
        </p:nvSpPr>
        <p:spPr>
          <a:xfrm>
            <a:off x="2103120" y="2606040"/>
            <a:ext cx="1463040" cy="384048"/>
          </a:xfrm>
          <a:prstGeom prst="roundRect">
            <a:avLst>
              <a:gd name="adj" fmla="val 42857"/>
            </a:avLst>
          </a:prstGeom>
          <a:solidFill>
            <a:schemeClr val="accent4"/>
          </a:solidFill>
          <a:ln>
            <a:solidFill>
              <a:schemeClr val="accent4"/>
            </a:solidFill>
          </a:ln>
        </p:spPr>
        <p:txBody>
          <a:bodyPr wrap="square" lIns="0" tIns="0" rIns="0" bIns="0" rtlCol="0" anchor="ctr"/>
          <a:lstStyle/>
          <a:p>
            <a:pPr marL="0" indent="0" algn="ctr">
              <a:buNone/>
            </a:pPr>
            <a:r>
              <a:rPr lang="en-US" sz="1300" b="1" dirty="0">
                <a:solidFill>
                  <a:schemeClr val="bg1"/>
                </a:solidFill>
              </a:rPr>
              <a:t>STOPPED</a:t>
            </a:r>
            <a:endParaRPr lang="en-US" sz="1300" dirty="0"/>
          </a:p>
        </p:txBody>
      </p:sp>
      <p:sp>
        <p:nvSpPr>
          <p:cNvPr id="18" name="Text 16"/>
          <p:cNvSpPr txBox="1"/>
          <p:nvPr/>
        </p:nvSpPr>
        <p:spPr>
          <a:xfrm>
            <a:off x="3749040" y="2606040"/>
            <a:ext cx="7955280" cy="384048"/>
          </a:xfrm>
          <a:prstGeom prst="rect">
            <a:avLst/>
          </a:prstGeom>
          <a:noFill/>
          <a:ln/>
        </p:spPr>
        <p:txBody>
          <a:bodyPr wrap="square" lIns="0" tIns="0" rIns="0" bIns="0" rtlCol="0" anchor="ctr"/>
          <a:lstStyle/>
          <a:p>
            <a:pPr marL="0" indent="0">
              <a:buNone/>
            </a:pPr>
            <a:r>
              <a:rPr lang="en-US" sz="1400" dirty="0">
                <a:solidFill>
                  <a:schemeClr val="tx1"/>
                </a:solidFill>
              </a:rPr>
              <a:t>État d'exécution, indépendant : décide si la gateway accepte le trafic</a:t>
            </a:r>
            <a:endParaRPr lang="en-US" sz="1400" dirty="0"/>
          </a:p>
        </p:txBody>
      </p:sp>
      <p:sp>
        <p:nvSpPr>
          <p:cNvPr id="19" name="Text 17"/>
          <p:cNvSpPr txBox="1"/>
          <p:nvPr/>
        </p:nvSpPr>
        <p:spPr>
          <a:xfrm>
            <a:off x="457200" y="3383280"/>
            <a:ext cx="5669280" cy="411480"/>
          </a:xfrm>
          <a:prstGeom prst="rect">
            <a:avLst/>
          </a:prstGeom>
          <a:noFill/>
          <a:ln/>
        </p:spPr>
        <p:txBody>
          <a:bodyPr wrap="square" lIns="0" tIns="0" rIns="0" bIns="0" rtlCol="0" anchor="ctr"/>
          <a:lstStyle/>
          <a:p>
            <a:pPr marL="0" indent="0">
              <a:buNone/>
            </a:pPr>
            <a:r>
              <a:rPr lang="en-US" sz="2000" b="1" dirty="0">
                <a:solidFill>
                  <a:schemeClr val="tx2"/>
                </a:solidFill>
              </a:rPr>
              <a:t>Version 2, sans casser la v1</a:t>
            </a:r>
            <a:endParaRPr lang="en-US" sz="2000" dirty="0"/>
          </a:p>
        </p:txBody>
      </p:sp>
      <p:sp>
        <p:nvSpPr>
          <p:cNvPr id="20" name="Text 18"/>
          <p:cNvSpPr txBox="1"/>
          <p:nvPr/>
        </p:nvSpPr>
        <p:spPr>
          <a:xfrm>
            <a:off x="457200" y="3886200"/>
            <a:ext cx="57607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Nouvelle API Gravitee sur /sante/structures/v2, avec son plan et sa clé</a:t>
            </a:r>
            <a:endParaRPr lang="en-US" sz="1600" dirty="0"/>
          </a:p>
          <a:p>
            <a:pPr marL="342900" indent="-342900">
              <a:spcAft>
                <a:spcPts val="800"/>
              </a:spcAft>
              <a:buSzPct val="100000"/>
              <a:buChar char="•"/>
            </a:pPr>
            <a:r>
              <a:rPr lang="en-US" sz="1500" dirty="0">
                <a:solidFill>
                  <a:schemeClr val="tx1"/>
                </a:solidFill>
              </a:rPr>
              <a:t>Format enrichi : localisation, statut, nombre de lits, services</a:t>
            </a:r>
            <a:endParaRPr lang="en-US" sz="1600" dirty="0"/>
          </a:p>
          <a:p>
            <a:pPr marL="342900" indent="-342900">
              <a:spcAft>
                <a:spcPts val="800"/>
              </a:spcAft>
              <a:buSzPct val="100000"/>
              <a:buChar char="•"/>
            </a:pPr>
            <a:r>
              <a:rPr lang="en-US" sz="1500" dirty="0">
                <a:solidFill>
                  <a:schemeClr val="tx1"/>
                </a:solidFill>
              </a:rPr>
              <a:t>Clé v1 sur la v2 → 401 : une souscription ne vaut que pour son API</a:t>
            </a:r>
            <a:endParaRPr lang="en-US" sz="1600" dirty="0"/>
          </a:p>
          <a:p>
            <a:pPr marL="342900" indent="-342900">
              <a:spcAft>
                <a:spcPts val="800"/>
              </a:spcAft>
              <a:buSzPct val="100000"/>
              <a:buChar char="•"/>
            </a:pPr>
            <a:r>
              <a:rPr lang="en-US" sz="1500" dirty="0">
                <a:solidFill>
                  <a:schemeClr val="tx1"/>
                </a:solidFill>
              </a:rPr>
              <a:t>Plan v1 déprécié : plus de nouvelle souscription, les abonnés continuent</a:t>
            </a:r>
            <a:endParaRPr lang="en-US" sz="1600" dirty="0"/>
          </a:p>
        </p:txBody>
      </p:sp>
      <p:sp>
        <p:nvSpPr>
          <p:cNvPr id="21" name="cadre-E2-v2-200.png"/>
          <p:cNvSpPr/>
          <p:nvPr/>
        </p:nvSpPr>
        <p:spPr>
          <a:xfrm>
            <a:off x="6564304" y="3337560"/>
            <a:ext cx="5067952" cy="2880360"/>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22" name="Image 0" descr="Appel v2 : 200 avec le nouveau format"/>
          <p:cNvPicPr>
            <a:picLocks noChangeAspect="1"/>
          </p:cNvPicPr>
          <p:nvPr/>
        </p:nvPicPr>
        <p:blipFill>
          <a:blip r:embed="rId3"/>
          <a:stretch>
            <a:fillRect/>
          </a:stretch>
        </p:blipFill>
        <p:spPr>
          <a:xfrm>
            <a:off x="6610024" y="3383280"/>
            <a:ext cx="4976512" cy="2788920"/>
          </a:xfrm>
          <a:prstGeom prst="rect">
            <a:avLst/>
          </a:prstGeom>
        </p:spPr>
      </p:pic>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Retrait de publication ≠ arrêt technique</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OUEDRAOGO D. Adan F.</a:t>
            </a:r>
            <a:endParaRPr lang="en-US" sz="1200" dirty="0"/>
          </a:p>
        </p:txBody>
      </p:sp>
      <p:sp>
        <p:nvSpPr>
          <p:cNvPr id="4" name="Text 2"/>
          <p:cNvSpPr txBox="1"/>
          <p:nvPr/>
        </p:nvSpPr>
        <p:spPr>
          <a:xfrm>
            <a:off x="457200" y="1280160"/>
            <a:ext cx="3931920" cy="411480"/>
          </a:xfrm>
          <a:prstGeom prst="rect">
            <a:avLst/>
          </a:prstGeom>
          <a:noFill/>
          <a:ln/>
        </p:spPr>
        <p:txBody>
          <a:bodyPr wrap="square" lIns="0" tIns="0" rIns="0" bIns="0" rtlCol="0" anchor="ctr"/>
          <a:lstStyle/>
          <a:p>
            <a:pPr marL="0" indent="0">
              <a:buNone/>
            </a:pPr>
            <a:r>
              <a:rPr lang="en-US" sz="2000" b="1" dirty="0">
                <a:solidFill>
                  <a:schemeClr val="tx2"/>
                </a:solidFill>
              </a:rPr>
              <a:t>Unpublish : retrait</a:t>
            </a:r>
            <a:endParaRPr lang="en-US" sz="2000" dirty="0"/>
          </a:p>
        </p:txBody>
      </p:sp>
      <p:sp>
        <p:nvSpPr>
          <p:cNvPr id="5" name="pastille"/>
          <p:cNvSpPr txBox="1"/>
          <p:nvPr/>
        </p:nvSpPr>
        <p:spPr>
          <a:xfrm>
            <a:off x="4526280" y="1325880"/>
            <a:ext cx="1463040" cy="329184"/>
          </a:xfrm>
          <a:prstGeom prst="roundRect">
            <a:avLst>
              <a:gd name="adj" fmla="val 50000"/>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bg1"/>
                </a:solidFill>
              </a:rPr>
              <a:t>Visibilité</a:t>
            </a:r>
            <a:endParaRPr lang="en-US" sz="1200" dirty="0"/>
          </a:p>
        </p:txBody>
      </p:sp>
      <p:sp>
        <p:nvSpPr>
          <p:cNvPr id="6" name="cadre-D2-portail-retire.png"/>
          <p:cNvSpPr/>
          <p:nvPr/>
        </p:nvSpPr>
        <p:spPr>
          <a:xfrm>
            <a:off x="759594" y="1783080"/>
            <a:ext cx="4927332" cy="2148840"/>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7" name="Image 0" descr="Portail : aucune API"/>
          <p:cNvPicPr>
            <a:picLocks noChangeAspect="1"/>
          </p:cNvPicPr>
          <p:nvPr/>
        </p:nvPicPr>
        <p:blipFill>
          <a:blip r:embed="rId3"/>
          <a:stretch>
            <a:fillRect/>
          </a:stretch>
        </p:blipFill>
        <p:spPr>
          <a:xfrm>
            <a:off x="805314" y="1828800"/>
            <a:ext cx="4835892" cy="2057400"/>
          </a:xfrm>
          <a:prstGeom prst="rect">
            <a:avLst/>
          </a:prstGeom>
        </p:spPr>
      </p:pic>
      <p:sp>
        <p:nvSpPr>
          <p:cNvPr id="8" name="cadre-D3-retire-mais-200.png"/>
          <p:cNvSpPr/>
          <p:nvPr/>
        </p:nvSpPr>
        <p:spPr>
          <a:xfrm>
            <a:off x="1490043" y="4023360"/>
            <a:ext cx="3466433" cy="1508760"/>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9" name="Image 1" descr="Appel avec clé : 200"/>
          <p:cNvPicPr>
            <a:picLocks noChangeAspect="1"/>
          </p:cNvPicPr>
          <p:nvPr/>
        </p:nvPicPr>
        <p:blipFill>
          <a:blip r:embed="rId4"/>
          <a:stretch>
            <a:fillRect/>
          </a:stretch>
        </p:blipFill>
        <p:spPr>
          <a:xfrm>
            <a:off x="1535763" y="4069080"/>
            <a:ext cx="3374993" cy="1417320"/>
          </a:xfrm>
          <a:prstGeom prst="rect">
            <a:avLst/>
          </a:prstGeom>
        </p:spPr>
      </p:pic>
      <p:sp>
        <p:nvSpPr>
          <p:cNvPr id="10" name="pastille"/>
          <p:cNvSpPr txBox="1"/>
          <p:nvPr/>
        </p:nvSpPr>
        <p:spPr>
          <a:xfrm>
            <a:off x="457200" y="5669280"/>
            <a:ext cx="5532120" cy="384048"/>
          </a:xfrm>
          <a:prstGeom prst="roundRect">
            <a:avLst>
              <a:gd name="adj" fmla="val 42857"/>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rPr>
              <a:t>Disparaît du portail, mais répond toujours : 200</a:t>
            </a:r>
            <a:endParaRPr lang="en-US" sz="1400" dirty="0"/>
          </a:p>
        </p:txBody>
      </p:sp>
      <p:sp>
        <p:nvSpPr>
          <p:cNvPr id="11" name="Text 7"/>
          <p:cNvSpPr txBox="1"/>
          <p:nvPr/>
        </p:nvSpPr>
        <p:spPr>
          <a:xfrm>
            <a:off x="6199632" y="1280160"/>
            <a:ext cx="3931920" cy="411480"/>
          </a:xfrm>
          <a:prstGeom prst="rect">
            <a:avLst/>
          </a:prstGeom>
          <a:noFill/>
          <a:ln/>
        </p:spPr>
        <p:txBody>
          <a:bodyPr wrap="square" lIns="0" tIns="0" rIns="0" bIns="0" rtlCol="0" anchor="ctr"/>
          <a:lstStyle/>
          <a:p>
            <a:pPr marL="0" indent="0">
              <a:buNone/>
            </a:pPr>
            <a:r>
              <a:rPr lang="en-US" sz="2000" b="1" dirty="0">
                <a:solidFill>
                  <a:schemeClr val="tx2"/>
                </a:solidFill>
              </a:rPr>
              <a:t>Stop : arrêt technique</a:t>
            </a:r>
            <a:endParaRPr lang="en-US" sz="2000" dirty="0"/>
          </a:p>
        </p:txBody>
      </p:sp>
      <p:sp>
        <p:nvSpPr>
          <p:cNvPr id="12" name="pastille"/>
          <p:cNvSpPr txBox="1"/>
          <p:nvPr/>
        </p:nvSpPr>
        <p:spPr>
          <a:xfrm>
            <a:off x="10268712" y="1325880"/>
            <a:ext cx="146304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marL="0" indent="0" algn="ctr">
              <a:buNone/>
            </a:pPr>
            <a:r>
              <a:rPr lang="en-US" sz="1200" b="1" dirty="0">
                <a:solidFill>
                  <a:schemeClr val="bg1"/>
                </a:solidFill>
              </a:rPr>
              <a:t>Trafic</a:t>
            </a:r>
            <a:endParaRPr lang="en-US" sz="1200" dirty="0"/>
          </a:p>
        </p:txBody>
      </p:sp>
      <p:sp>
        <p:nvSpPr>
          <p:cNvPr id="13" name="cadre-D4-api-stopped.png"/>
          <p:cNvSpPr/>
          <p:nvPr/>
        </p:nvSpPr>
        <p:spPr>
          <a:xfrm>
            <a:off x="6625465" y="1783080"/>
            <a:ext cx="4680455" cy="2148840"/>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14" name="Image 2" descr="Console : API Stopped"/>
          <p:cNvPicPr>
            <a:picLocks noChangeAspect="1"/>
          </p:cNvPicPr>
          <p:nvPr/>
        </p:nvPicPr>
        <p:blipFill>
          <a:blip r:embed="rId5"/>
          <a:stretch>
            <a:fillRect/>
          </a:stretch>
        </p:blipFill>
        <p:spPr>
          <a:xfrm>
            <a:off x="6671185" y="1828800"/>
            <a:ext cx="4589015" cy="2057400"/>
          </a:xfrm>
          <a:prstGeom prst="rect">
            <a:avLst/>
          </a:prstGeom>
        </p:spPr>
      </p:pic>
      <p:sp>
        <p:nvSpPr>
          <p:cNvPr id="15" name="cadre-D5-stop-refuse.png"/>
          <p:cNvSpPr/>
          <p:nvPr/>
        </p:nvSpPr>
        <p:spPr>
          <a:xfrm>
            <a:off x="6153912" y="4146610"/>
            <a:ext cx="5623560" cy="1262259"/>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16" name="Image 3" descr="Appel avec clé : 404 No context-path"/>
          <p:cNvPicPr>
            <a:picLocks noChangeAspect="1"/>
          </p:cNvPicPr>
          <p:nvPr/>
        </p:nvPicPr>
        <p:blipFill>
          <a:blip r:embed="rId6"/>
          <a:stretch>
            <a:fillRect/>
          </a:stretch>
        </p:blipFill>
        <p:spPr>
          <a:xfrm>
            <a:off x="6199632" y="4192330"/>
            <a:ext cx="5532120" cy="1170819"/>
          </a:xfrm>
          <a:prstGeom prst="rect">
            <a:avLst/>
          </a:prstGeom>
        </p:spPr>
      </p:pic>
      <p:sp>
        <p:nvSpPr>
          <p:cNvPr id="17" name="pastille"/>
          <p:cNvSpPr txBox="1"/>
          <p:nvPr/>
        </p:nvSpPr>
        <p:spPr>
          <a:xfrm>
            <a:off x="6199632" y="5669280"/>
            <a:ext cx="5532120" cy="384048"/>
          </a:xfrm>
          <a:prstGeom prst="roundRect">
            <a:avLst>
              <a:gd name="adj" fmla="val 42857"/>
            </a:avLst>
          </a:prstGeom>
          <a:solidFill>
            <a:schemeClr val="accent4"/>
          </a:solidFill>
          <a:ln>
            <a:solidFill>
              <a:schemeClr val="accent4"/>
            </a:solidFill>
          </a:ln>
        </p:spPr>
        <p:txBody>
          <a:bodyPr wrap="square" lIns="0" tIns="0" rIns="0" bIns="0" rtlCol="0" anchor="ctr"/>
          <a:lstStyle/>
          <a:p>
            <a:pPr marL="0" indent="0" algn="ctr">
              <a:buNone/>
            </a:pPr>
            <a:r>
              <a:rPr lang="en-US" sz="1400" b="1" dirty="0">
                <a:solidFill>
                  <a:schemeClr val="bg1"/>
                </a:solidFill>
              </a:rPr>
              <a:t>Même clé valide : 404, plus aucun routage</a:t>
            </a:r>
            <a:endParaRPr lang="en-US" sz="14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Tests automatisés : 44 vérifications, 0 échec</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OUEDRAOGO D. Adan F.</a:t>
            </a:r>
            <a:endParaRPr lang="en-US" sz="1200" dirty="0"/>
          </a:p>
        </p:txBody>
      </p:sp>
      <p:sp>
        <p:nvSpPr>
          <p:cNvPr id="4" name="Text 2"/>
          <p:cNvSpPr txBox="1"/>
          <p:nvPr/>
        </p:nvSpPr>
        <p:spPr>
          <a:xfrm>
            <a:off x="457200" y="1325880"/>
            <a:ext cx="1051560" cy="868680"/>
          </a:xfrm>
          <a:prstGeom prst="rect">
            <a:avLst/>
          </a:prstGeom>
          <a:noFill/>
          <a:ln/>
        </p:spPr>
        <p:txBody>
          <a:bodyPr wrap="square" lIns="0" tIns="0" rIns="0" bIns="0" rtlCol="0" anchor="ctr"/>
          <a:lstStyle/>
          <a:p>
            <a:pPr marL="0" indent="0">
              <a:buNone/>
            </a:pPr>
            <a:r>
              <a:rPr lang="en-US" sz="4800" b="1" dirty="0">
                <a:solidFill>
                  <a:schemeClr val="accent1"/>
                </a:solidFill>
              </a:rPr>
              <a:t>44</a:t>
            </a:r>
            <a:endParaRPr lang="en-US" sz="4800" dirty="0"/>
          </a:p>
        </p:txBody>
      </p:sp>
      <p:sp>
        <p:nvSpPr>
          <p:cNvPr id="5" name="Text 3"/>
          <p:cNvSpPr txBox="1"/>
          <p:nvPr/>
        </p:nvSpPr>
        <p:spPr>
          <a:xfrm>
            <a:off x="1554480" y="1325880"/>
            <a:ext cx="3017520" cy="868680"/>
          </a:xfrm>
          <a:prstGeom prst="rect">
            <a:avLst/>
          </a:prstGeom>
          <a:noFill/>
          <a:ln/>
        </p:spPr>
        <p:txBody>
          <a:bodyPr wrap="square" lIns="0" tIns="0" rIns="0" bIns="0" rtlCol="0" anchor="ctr"/>
          <a:lstStyle/>
          <a:p>
            <a:pPr marL="0" indent="0">
              <a:buNone/>
            </a:pPr>
            <a:r>
              <a:rPr lang="en-US" sz="1700" dirty="0">
                <a:solidFill>
                  <a:schemeClr val="tx1"/>
                </a:solidFill>
              </a:rPr>
              <a:t>assertions</a:t>
            </a:r>
            <a:endParaRPr lang="en-US" sz="1700" dirty="0"/>
          </a:p>
        </p:txBody>
      </p:sp>
      <p:sp>
        <p:nvSpPr>
          <p:cNvPr id="6" name="Text 4"/>
          <p:cNvSpPr txBox="1"/>
          <p:nvPr/>
        </p:nvSpPr>
        <p:spPr>
          <a:xfrm>
            <a:off x="457200" y="2286000"/>
            <a:ext cx="1051560" cy="868680"/>
          </a:xfrm>
          <a:prstGeom prst="rect">
            <a:avLst/>
          </a:prstGeom>
          <a:noFill/>
          <a:ln/>
        </p:spPr>
        <p:txBody>
          <a:bodyPr wrap="square" lIns="0" tIns="0" rIns="0" bIns="0" rtlCol="0" anchor="ctr"/>
          <a:lstStyle/>
          <a:p>
            <a:pPr marL="0" indent="0">
              <a:buNone/>
            </a:pPr>
            <a:r>
              <a:rPr lang="en-US" sz="4800" b="1" dirty="0">
                <a:solidFill>
                  <a:schemeClr val="accent3"/>
                </a:solidFill>
              </a:rPr>
              <a:t>0</a:t>
            </a:r>
            <a:endParaRPr lang="en-US" sz="4800" dirty="0"/>
          </a:p>
        </p:txBody>
      </p:sp>
      <p:sp>
        <p:nvSpPr>
          <p:cNvPr id="7" name="Text 5"/>
          <p:cNvSpPr txBox="1"/>
          <p:nvPr/>
        </p:nvSpPr>
        <p:spPr>
          <a:xfrm>
            <a:off x="1554480" y="2286000"/>
            <a:ext cx="3017520" cy="868680"/>
          </a:xfrm>
          <a:prstGeom prst="rect">
            <a:avLst/>
          </a:prstGeom>
          <a:noFill/>
          <a:ln/>
        </p:spPr>
        <p:txBody>
          <a:bodyPr wrap="square" lIns="0" tIns="0" rIns="0" bIns="0" rtlCol="0" anchor="ctr"/>
          <a:lstStyle/>
          <a:p>
            <a:pPr marL="0" indent="0">
              <a:buNone/>
            </a:pPr>
            <a:r>
              <a:rPr lang="en-US" sz="1700" dirty="0">
                <a:solidFill>
                  <a:schemeClr val="tx1"/>
                </a:solidFill>
              </a:rPr>
              <a:t>échec</a:t>
            </a:r>
            <a:endParaRPr lang="en-US" sz="1700" dirty="0"/>
          </a:p>
        </p:txBody>
      </p:sp>
      <p:sp>
        <p:nvSpPr>
          <p:cNvPr id="8" name="Text 6"/>
          <p:cNvSpPr txBox="1"/>
          <p:nvPr/>
        </p:nvSpPr>
        <p:spPr>
          <a:xfrm>
            <a:off x="457200" y="3246120"/>
            <a:ext cx="1051560" cy="868680"/>
          </a:xfrm>
          <a:prstGeom prst="rect">
            <a:avLst/>
          </a:prstGeom>
          <a:noFill/>
          <a:ln/>
        </p:spPr>
        <p:txBody>
          <a:bodyPr wrap="square" lIns="0" tIns="0" rIns="0" bIns="0" rtlCol="0" anchor="ctr"/>
          <a:lstStyle/>
          <a:p>
            <a:pPr marL="0" indent="0">
              <a:buNone/>
            </a:pPr>
            <a:r>
              <a:rPr lang="en-US" sz="4800" b="1" dirty="0">
                <a:solidFill>
                  <a:schemeClr val="accent1"/>
                </a:solidFill>
              </a:rPr>
              <a:t>26</a:t>
            </a:r>
            <a:endParaRPr lang="en-US" sz="4800" dirty="0"/>
          </a:p>
        </p:txBody>
      </p:sp>
      <p:sp>
        <p:nvSpPr>
          <p:cNvPr id="9" name="Text 7"/>
          <p:cNvSpPr txBox="1"/>
          <p:nvPr/>
        </p:nvSpPr>
        <p:spPr>
          <a:xfrm>
            <a:off x="1554480" y="3246120"/>
            <a:ext cx="3017520" cy="868680"/>
          </a:xfrm>
          <a:prstGeom prst="rect">
            <a:avLst/>
          </a:prstGeom>
          <a:noFill/>
          <a:ln/>
        </p:spPr>
        <p:txBody>
          <a:bodyPr wrap="square" lIns="0" tIns="0" rIns="0" bIns="0" rtlCol="0" anchor="ctr"/>
          <a:lstStyle/>
          <a:p>
            <a:pPr marL="0" indent="0">
              <a:buNone/>
            </a:pPr>
            <a:r>
              <a:rPr lang="en-US" sz="1700" dirty="0">
                <a:solidFill>
                  <a:schemeClr val="tx1"/>
                </a:solidFill>
              </a:rPr>
              <a:t>requêtes HTTP</a:t>
            </a:r>
            <a:endParaRPr lang="en-US" sz="1700" dirty="0"/>
          </a:p>
        </p:txBody>
      </p:sp>
      <p:sp>
        <p:nvSpPr>
          <p:cNvPr id="10" name="Text 8"/>
          <p:cNvSpPr txBox="1"/>
          <p:nvPr/>
        </p:nvSpPr>
        <p:spPr>
          <a:xfrm>
            <a:off x="457200" y="4343400"/>
            <a:ext cx="420624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Backend direct : pagination, recherche, erreurs 400, 404, 405</a:t>
            </a:r>
            <a:endParaRPr lang="en-US" sz="1600" dirty="0"/>
          </a:p>
          <a:p>
            <a:pPr marL="342900" indent="-342900">
              <a:spcAft>
                <a:spcPts val="800"/>
              </a:spcAft>
              <a:buSzPct val="100000"/>
              <a:buChar char="•"/>
            </a:pPr>
            <a:r>
              <a:rPr lang="en-US" sz="1400" dirty="0">
                <a:solidFill>
                  <a:schemeClr val="tx1"/>
                </a:solidFill>
              </a:rPr>
              <a:t>Gateway : 401, quota 429, version 2</a:t>
            </a:r>
            <a:endParaRPr lang="en-US" sz="1600" dirty="0"/>
          </a:p>
          <a:p>
            <a:pPr marL="342900" indent="-342900">
              <a:spcAft>
                <a:spcPts val="800"/>
              </a:spcAft>
              <a:buSzPct val="100000"/>
              <a:buChar char="•"/>
            </a:pPr>
            <a:r>
              <a:rPr lang="en-US" sz="1400" dirty="0">
                <a:solidFill>
                  <a:schemeClr val="tx1"/>
                </a:solidFill>
              </a:rPr>
              <a:t>Bout en bout : clé → gateway → API → PostgreSQL, la ligne CHU-CEN-001 du seed est retrouvée</a:t>
            </a:r>
            <a:endParaRPr lang="en-US" sz="1600" dirty="0"/>
          </a:p>
        </p:txBody>
      </p:sp>
      <p:sp>
        <p:nvSpPr>
          <p:cNvPr id="11" name="cadre-G1-newman-resultats.png"/>
          <p:cNvSpPr/>
          <p:nvPr/>
        </p:nvSpPr>
        <p:spPr>
          <a:xfrm>
            <a:off x="4937760" y="1963775"/>
            <a:ext cx="6812280" cy="3204770"/>
          </a:xfrm>
          <a:prstGeom prst="rect">
            <a:avLst/>
          </a:prstGeom>
          <a:solidFill>
            <a:schemeClr val="bg1"/>
          </a:solidFill>
          <a:ln w="9525">
            <a:solidFill>
              <a:srgbClr val="D5DEDC"/>
            </a:solidFill>
            <a:prstDash val="solid"/>
          </a:ln>
          <a:effectLst>
            <a:outerShdw blurRad="76200" dist="25400" dir="5400000" algn="bl" rotWithShape="0">
              <a:srgbClr val="000000">
                <a:alpha val="18000"/>
              </a:srgbClr>
            </a:outerShdw>
          </a:effectLst>
        </p:spPr>
        <p:txBody>
          <a:bodyPr/>
          <a:lstStyle/>
          <a:p>
            <a:endParaRPr lang="fr-FR"/>
          </a:p>
        </p:txBody>
      </p:sp>
      <p:pic>
        <p:nvPicPr>
          <p:cNvPr id="12" name="Image 0" descr="Rapport Newman : 0 échec"/>
          <p:cNvPicPr>
            <a:picLocks noChangeAspect="1"/>
          </p:cNvPicPr>
          <p:nvPr/>
        </p:nvPicPr>
        <p:blipFill>
          <a:blip r:embed="rId3"/>
          <a:stretch>
            <a:fillRect/>
          </a:stretch>
        </p:blipFill>
        <p:spPr>
          <a:xfrm>
            <a:off x="4983480" y="2009495"/>
            <a:ext cx="6720840" cy="3113330"/>
          </a:xfrm>
          <a:prstGeom prst="rect">
            <a:avLst/>
          </a:prstGeom>
        </p:spPr>
      </p:pic>
      <p:sp>
        <p:nvSpPr>
          <p:cNvPr id="13" name="Text 10"/>
          <p:cNvSpPr txBox="1"/>
          <p:nvPr/>
        </p:nvSpPr>
        <p:spPr>
          <a:xfrm>
            <a:off x="4983480" y="5897880"/>
            <a:ext cx="6720840" cy="320040"/>
          </a:xfrm>
          <a:prstGeom prst="rect">
            <a:avLst/>
          </a:prstGeom>
          <a:noFill/>
          <a:ln/>
        </p:spPr>
        <p:txBody>
          <a:bodyPr wrap="square" lIns="0" tIns="0" rIns="0" bIns="0" rtlCol="0" anchor="ctr"/>
          <a:lstStyle/>
          <a:p>
            <a:pPr marL="0" indent="0" algn="ctr">
              <a:buNone/>
            </a:pPr>
            <a:r>
              <a:rPr lang="en-US" sz="1200" dirty="0">
                <a:solidFill>
                  <a:schemeClr val="accent6"/>
                </a:solidFill>
              </a:rPr>
              <a:t>Collection Postman rejouée en ligne de commande avec Newman · résultats dans tests/resultats/</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503920" cy="777240"/>
          </a:xfrm>
          <a:prstGeom prst="rect">
            <a:avLst/>
          </a:prstGeom>
          <a:noFill/>
          <a:ln/>
        </p:spPr>
        <p:txBody>
          <a:bodyPr wrap="square" lIns="0" tIns="0" rIns="0" bIns="0" rtlCol="0" anchor="ctr"/>
          <a:lstStyle/>
          <a:p>
            <a:pPr marL="0" indent="0" algn="l">
              <a:buNone/>
            </a:pPr>
            <a:r>
              <a:rPr lang="en-US" sz="3200" b="1" dirty="0">
                <a:solidFill>
                  <a:schemeClr val="tx2"/>
                </a:solidFill>
              </a:rPr>
              <a:t>Difficultés et enseignements</a:t>
            </a:r>
            <a:endParaRPr lang="en-US" sz="3200" dirty="0"/>
          </a:p>
        </p:txBody>
      </p:sp>
      <p:sp>
        <p:nvSpPr>
          <p:cNvPr id="3" name="presentateur"/>
          <p:cNvSpPr txBox="1"/>
          <p:nvPr/>
        </p:nvSpPr>
        <p:spPr>
          <a:xfrm>
            <a:off x="9098280" y="457200"/>
            <a:ext cx="2633472" cy="457200"/>
          </a:xfrm>
          <a:prstGeom prst="roundRect">
            <a:avLst>
              <a:gd name="adj" fmla="val 40000"/>
            </a:avLst>
          </a:prstGeom>
          <a:solidFill>
            <a:schemeClr val="bg2"/>
          </a:solidFill>
          <a:ln>
            <a:solidFill>
              <a:schemeClr val="bg2"/>
            </a:solidFill>
          </a:ln>
        </p:spPr>
        <p:txBody>
          <a:bodyPr wrap="square" rtlCol="0" anchor="ctr"/>
          <a:lstStyle/>
          <a:p>
            <a:pPr marL="0" indent="0" algn="ctr">
              <a:buNone/>
            </a:pPr>
            <a:r>
              <a:rPr lang="en-US" sz="1200" b="1" dirty="0">
                <a:solidFill>
                  <a:schemeClr val="tx2"/>
                </a:solidFill>
              </a:rPr>
              <a:t>SIMPORE W. L. Eldad</a:t>
            </a:r>
            <a:endParaRPr lang="en-US" sz="1200" dirty="0"/>
          </a:p>
        </p:txBody>
      </p:sp>
      <p:sp>
        <p:nvSpPr>
          <p:cNvPr id="4" name="carte-Gravitee est gourmand"/>
          <p:cNvSpPr/>
          <p:nvPr/>
        </p:nvSpPr>
        <p:spPr>
          <a:xfrm>
            <a:off x="457200" y="1371600"/>
            <a:ext cx="5440680" cy="2011680"/>
          </a:xfrm>
          <a:prstGeom prst="roundRect">
            <a:avLst>
              <a:gd name="adj" fmla="val 5455"/>
            </a:avLst>
          </a:prstGeom>
          <a:solidFill>
            <a:schemeClr val="bg2"/>
          </a:solidFill>
          <a:ln w="12700">
            <a:solidFill>
              <a:schemeClr val="bg2"/>
            </a:solidFill>
            <a:prstDash val="solid"/>
          </a:ln>
        </p:spPr>
        <p:txBody>
          <a:bodyPr/>
          <a:lstStyle/>
          <a:p>
            <a:endParaRPr lang="fr-FR"/>
          </a:p>
        </p:txBody>
      </p:sp>
      <p:sp>
        <p:nvSpPr>
          <p:cNvPr id="5" name="icone-FaMemory"/>
          <p:cNvSpPr/>
          <p:nvPr/>
        </p:nvSpPr>
        <p:spPr>
          <a:xfrm>
            <a:off x="731520" y="1645920"/>
            <a:ext cx="685800" cy="685800"/>
          </a:xfrm>
          <a:prstGeom prst="ellipse">
            <a:avLst/>
          </a:prstGeom>
          <a:solidFill>
            <a:schemeClr val="accent2"/>
          </a:solidFill>
          <a:ln w="12700">
            <a:solidFill>
              <a:schemeClr val="accent2"/>
            </a:solidFill>
            <a:prstDash val="solid"/>
          </a:ln>
        </p:spPr>
        <p:txBody>
          <a:bodyPr/>
          <a:lstStyle/>
          <a:p>
            <a:endParaRPr lang="fr-FR"/>
          </a:p>
        </p:txBody>
      </p:sp>
      <p:pic>
        <p:nvPicPr>
          <p:cNvPr id="6" name="Image 0" descr="FaMemory"/>
          <p:cNvPicPr>
            <a:picLocks noChangeAspect="1"/>
          </p:cNvPicPr>
          <p:nvPr/>
        </p:nvPicPr>
        <p:blipFill>
          <a:blip r:embed="rId3"/>
          <a:stretch>
            <a:fillRect/>
          </a:stretch>
        </p:blipFill>
        <p:spPr>
          <a:xfrm>
            <a:off x="923544" y="1837944"/>
            <a:ext cx="301752" cy="301752"/>
          </a:xfrm>
          <a:prstGeom prst="rect">
            <a:avLst/>
          </a:prstGeom>
        </p:spPr>
      </p:pic>
      <p:sp>
        <p:nvSpPr>
          <p:cNvPr id="7" name="Text 4"/>
          <p:cNvSpPr txBox="1"/>
          <p:nvPr/>
        </p:nvSpPr>
        <p:spPr>
          <a:xfrm>
            <a:off x="1600200" y="1645920"/>
            <a:ext cx="4069080" cy="685800"/>
          </a:xfrm>
          <a:prstGeom prst="rect">
            <a:avLst/>
          </a:prstGeom>
          <a:noFill/>
          <a:ln/>
        </p:spPr>
        <p:txBody>
          <a:bodyPr wrap="square" lIns="0" tIns="0" rIns="0" bIns="0" rtlCol="0" anchor="ctr"/>
          <a:lstStyle/>
          <a:p>
            <a:pPr marL="0" indent="0">
              <a:buNone/>
            </a:pPr>
            <a:r>
              <a:rPr lang="en-US" sz="1900" b="1" dirty="0">
                <a:solidFill>
                  <a:schemeClr val="tx2"/>
                </a:solidFill>
              </a:rPr>
              <a:t>Gravitee est gourmand</a:t>
            </a:r>
            <a:endParaRPr lang="en-US" sz="1900" dirty="0"/>
          </a:p>
        </p:txBody>
      </p:sp>
      <p:sp>
        <p:nvSpPr>
          <p:cNvPr id="8" name="Text 5"/>
          <p:cNvSpPr txBox="1"/>
          <p:nvPr/>
        </p:nvSpPr>
        <p:spPr>
          <a:xfrm>
            <a:off x="731520" y="2514600"/>
            <a:ext cx="4892040" cy="731520"/>
          </a:xfrm>
          <a:prstGeom prst="rect">
            <a:avLst/>
          </a:prstGeom>
          <a:noFill/>
          <a:ln/>
        </p:spPr>
        <p:txBody>
          <a:bodyPr wrap="square" lIns="0" tIns="0" rIns="0" bIns="0" rtlCol="0" anchor="t"/>
          <a:lstStyle/>
          <a:p>
            <a:pPr marL="0" indent="0">
              <a:buNone/>
            </a:pPr>
            <a:r>
              <a:rPr lang="en-US" sz="1500" dirty="0">
                <a:solidFill>
                  <a:schemeClr val="tx1"/>
                </a:solidFill>
              </a:rPr>
              <a:t>8 conteneurs, 6 à 8 Go de RAM : images téléchargées à l'avance et versions fixées (APIM 4.12.25)</a:t>
            </a:r>
            <a:endParaRPr lang="en-US" sz="1500" dirty="0"/>
          </a:p>
        </p:txBody>
      </p:sp>
      <p:sp>
        <p:nvSpPr>
          <p:cNvPr id="9" name="carte-Le chemin vient du contrat"/>
          <p:cNvSpPr/>
          <p:nvPr/>
        </p:nvSpPr>
        <p:spPr>
          <a:xfrm>
            <a:off x="6291072" y="1371600"/>
            <a:ext cx="5440680" cy="2011680"/>
          </a:xfrm>
          <a:prstGeom prst="roundRect">
            <a:avLst>
              <a:gd name="adj" fmla="val 5455"/>
            </a:avLst>
          </a:prstGeom>
          <a:solidFill>
            <a:schemeClr val="bg2"/>
          </a:solidFill>
          <a:ln w="12700">
            <a:solidFill>
              <a:schemeClr val="bg2"/>
            </a:solidFill>
            <a:prstDash val="solid"/>
          </a:ln>
        </p:spPr>
        <p:txBody>
          <a:bodyPr/>
          <a:lstStyle/>
          <a:p>
            <a:endParaRPr lang="fr-FR"/>
          </a:p>
        </p:txBody>
      </p:sp>
      <p:sp>
        <p:nvSpPr>
          <p:cNvPr id="10" name="icone-FaRoute"/>
          <p:cNvSpPr/>
          <p:nvPr/>
        </p:nvSpPr>
        <p:spPr>
          <a:xfrm>
            <a:off x="6565392" y="1645920"/>
            <a:ext cx="685800" cy="685800"/>
          </a:xfrm>
          <a:prstGeom prst="ellipse">
            <a:avLst/>
          </a:prstGeom>
          <a:solidFill>
            <a:schemeClr val="accent2"/>
          </a:solidFill>
          <a:ln w="12700">
            <a:solidFill>
              <a:schemeClr val="accent2"/>
            </a:solidFill>
            <a:prstDash val="solid"/>
          </a:ln>
        </p:spPr>
        <p:txBody>
          <a:bodyPr/>
          <a:lstStyle/>
          <a:p>
            <a:endParaRPr lang="fr-FR"/>
          </a:p>
        </p:txBody>
      </p:sp>
      <p:pic>
        <p:nvPicPr>
          <p:cNvPr id="11" name="Image 1" descr="FaRoute"/>
          <p:cNvPicPr>
            <a:picLocks noChangeAspect="1"/>
          </p:cNvPicPr>
          <p:nvPr/>
        </p:nvPicPr>
        <p:blipFill>
          <a:blip r:embed="rId4"/>
          <a:stretch>
            <a:fillRect/>
          </a:stretch>
        </p:blipFill>
        <p:spPr>
          <a:xfrm>
            <a:off x="6757416" y="1837944"/>
            <a:ext cx="301752" cy="301752"/>
          </a:xfrm>
          <a:prstGeom prst="rect">
            <a:avLst/>
          </a:prstGeom>
        </p:spPr>
      </p:pic>
      <p:sp>
        <p:nvSpPr>
          <p:cNvPr id="12" name="Text 8"/>
          <p:cNvSpPr txBox="1"/>
          <p:nvPr/>
        </p:nvSpPr>
        <p:spPr>
          <a:xfrm>
            <a:off x="7434072" y="1645920"/>
            <a:ext cx="4069080" cy="685800"/>
          </a:xfrm>
          <a:prstGeom prst="rect">
            <a:avLst/>
          </a:prstGeom>
          <a:noFill/>
          <a:ln/>
        </p:spPr>
        <p:txBody>
          <a:bodyPr wrap="square" lIns="0" tIns="0" rIns="0" bIns="0" rtlCol="0" anchor="ctr"/>
          <a:lstStyle/>
          <a:p>
            <a:pPr marL="0" indent="0">
              <a:buNone/>
            </a:pPr>
            <a:r>
              <a:rPr lang="en-US" sz="1900" b="1" dirty="0">
                <a:solidFill>
                  <a:schemeClr val="tx2"/>
                </a:solidFill>
              </a:rPr>
              <a:t>Le chemin vient du contrat</a:t>
            </a:r>
            <a:endParaRPr lang="en-US" sz="1900" dirty="0"/>
          </a:p>
        </p:txBody>
      </p:sp>
      <p:sp>
        <p:nvSpPr>
          <p:cNvPr id="13" name="Text 9"/>
          <p:cNvSpPr txBox="1"/>
          <p:nvPr/>
        </p:nvSpPr>
        <p:spPr>
          <a:xfrm>
            <a:off x="6565392" y="2514600"/>
            <a:ext cx="4892040" cy="731520"/>
          </a:xfrm>
          <a:prstGeom prst="rect">
            <a:avLst/>
          </a:prstGeom>
          <a:noFill/>
          <a:ln/>
        </p:spPr>
        <p:txBody>
          <a:bodyPr wrap="square" lIns="0" tIns="0" rIns="0" bIns="0" rtlCol="0" anchor="t"/>
          <a:lstStyle/>
          <a:p>
            <a:pPr marL="0" indent="0">
              <a:buNone/>
            </a:pPr>
            <a:r>
              <a:rPr lang="en-US" sz="1500" dirty="0">
                <a:solidFill>
                  <a:schemeClr val="tx1"/>
                </a:solidFill>
              </a:rPr>
              <a:t>L'import propose /api/v1 ; il a fallu le remplacer par /sante/structures/v1</a:t>
            </a:r>
            <a:endParaRPr lang="en-US" sz="1500" dirty="0"/>
          </a:p>
        </p:txBody>
      </p:sp>
      <p:sp>
        <p:nvSpPr>
          <p:cNvPr id="14" name="carte-Visibilité ≠ exécution"/>
          <p:cNvSpPr/>
          <p:nvPr/>
        </p:nvSpPr>
        <p:spPr>
          <a:xfrm>
            <a:off x="457200" y="3657600"/>
            <a:ext cx="5440680" cy="2011680"/>
          </a:xfrm>
          <a:prstGeom prst="roundRect">
            <a:avLst>
              <a:gd name="adj" fmla="val 5455"/>
            </a:avLst>
          </a:prstGeom>
          <a:solidFill>
            <a:schemeClr val="bg2"/>
          </a:solidFill>
          <a:ln w="12700">
            <a:solidFill>
              <a:schemeClr val="bg2"/>
            </a:solidFill>
            <a:prstDash val="solid"/>
          </a:ln>
        </p:spPr>
        <p:txBody>
          <a:bodyPr/>
          <a:lstStyle/>
          <a:p>
            <a:endParaRPr lang="fr-FR"/>
          </a:p>
        </p:txBody>
      </p:sp>
      <p:sp>
        <p:nvSpPr>
          <p:cNvPr id="15" name="icone-FaEye"/>
          <p:cNvSpPr/>
          <p:nvPr/>
        </p:nvSpPr>
        <p:spPr>
          <a:xfrm>
            <a:off x="731520" y="3931920"/>
            <a:ext cx="685800" cy="685800"/>
          </a:xfrm>
          <a:prstGeom prst="ellipse">
            <a:avLst/>
          </a:prstGeom>
          <a:solidFill>
            <a:schemeClr val="accent2"/>
          </a:solidFill>
          <a:ln w="12700">
            <a:solidFill>
              <a:schemeClr val="accent2"/>
            </a:solidFill>
            <a:prstDash val="solid"/>
          </a:ln>
        </p:spPr>
        <p:txBody>
          <a:bodyPr/>
          <a:lstStyle/>
          <a:p>
            <a:endParaRPr lang="fr-FR"/>
          </a:p>
        </p:txBody>
      </p:sp>
      <p:pic>
        <p:nvPicPr>
          <p:cNvPr id="16" name="Image 2" descr="FaEye"/>
          <p:cNvPicPr>
            <a:picLocks noChangeAspect="1"/>
          </p:cNvPicPr>
          <p:nvPr/>
        </p:nvPicPr>
        <p:blipFill>
          <a:blip r:embed="rId5"/>
          <a:stretch>
            <a:fillRect/>
          </a:stretch>
        </p:blipFill>
        <p:spPr>
          <a:xfrm>
            <a:off x="923544" y="4123944"/>
            <a:ext cx="301752" cy="301752"/>
          </a:xfrm>
          <a:prstGeom prst="rect">
            <a:avLst/>
          </a:prstGeom>
        </p:spPr>
      </p:pic>
      <p:sp>
        <p:nvSpPr>
          <p:cNvPr id="17" name="Text 12"/>
          <p:cNvSpPr txBox="1"/>
          <p:nvPr/>
        </p:nvSpPr>
        <p:spPr>
          <a:xfrm>
            <a:off x="1600200" y="3931920"/>
            <a:ext cx="4069080" cy="685800"/>
          </a:xfrm>
          <a:prstGeom prst="rect">
            <a:avLst/>
          </a:prstGeom>
          <a:noFill/>
          <a:ln/>
        </p:spPr>
        <p:txBody>
          <a:bodyPr wrap="square" lIns="0" tIns="0" rIns="0" bIns="0" rtlCol="0" anchor="ctr"/>
          <a:lstStyle/>
          <a:p>
            <a:pPr marL="0" indent="0">
              <a:buNone/>
            </a:pPr>
            <a:r>
              <a:rPr lang="en-US" sz="1900" b="1" dirty="0">
                <a:solidFill>
                  <a:schemeClr val="tx2"/>
                </a:solidFill>
              </a:rPr>
              <a:t>Visibilité ≠ exécution</a:t>
            </a:r>
            <a:endParaRPr lang="en-US" sz="1900" dirty="0"/>
          </a:p>
        </p:txBody>
      </p:sp>
      <p:sp>
        <p:nvSpPr>
          <p:cNvPr id="18" name="Text 13"/>
          <p:cNvSpPr txBox="1"/>
          <p:nvPr/>
        </p:nvSpPr>
        <p:spPr>
          <a:xfrm>
            <a:off x="731520" y="4800600"/>
            <a:ext cx="4892040" cy="731520"/>
          </a:xfrm>
          <a:prstGeom prst="rect">
            <a:avLst/>
          </a:prstGeom>
          <a:noFill/>
          <a:ln/>
        </p:spPr>
        <p:txBody>
          <a:bodyPr wrap="square" lIns="0" tIns="0" rIns="0" bIns="0" rtlCol="0" anchor="t"/>
          <a:lstStyle/>
          <a:p>
            <a:pPr marL="0" indent="0">
              <a:buNone/>
            </a:pPr>
            <a:r>
              <a:rPr lang="en-US" sz="1500" dirty="0">
                <a:solidFill>
                  <a:schemeClr val="tx1"/>
                </a:solidFill>
              </a:rPr>
              <a:t>Publier et démarrer sont deux actions distinctes, à faire toutes les deux</a:t>
            </a:r>
            <a:endParaRPr lang="en-US" sz="1500" dirty="0"/>
          </a:p>
        </p:txBody>
      </p:sp>
      <p:sp>
        <p:nvSpPr>
          <p:cNvPr id="19" name="carte-Des actions irréversibles"/>
          <p:cNvSpPr/>
          <p:nvPr/>
        </p:nvSpPr>
        <p:spPr>
          <a:xfrm>
            <a:off x="6291072" y="3657600"/>
            <a:ext cx="5440680" cy="2011680"/>
          </a:xfrm>
          <a:prstGeom prst="roundRect">
            <a:avLst>
              <a:gd name="adj" fmla="val 5455"/>
            </a:avLst>
          </a:prstGeom>
          <a:solidFill>
            <a:schemeClr val="bg2"/>
          </a:solidFill>
          <a:ln w="12700">
            <a:solidFill>
              <a:schemeClr val="bg2"/>
            </a:solidFill>
            <a:prstDash val="solid"/>
          </a:ln>
        </p:spPr>
        <p:txBody>
          <a:bodyPr/>
          <a:lstStyle/>
          <a:p>
            <a:endParaRPr lang="fr-FR"/>
          </a:p>
        </p:txBody>
      </p:sp>
      <p:sp>
        <p:nvSpPr>
          <p:cNvPr id="20" name="icone-FaBan"/>
          <p:cNvSpPr/>
          <p:nvPr/>
        </p:nvSpPr>
        <p:spPr>
          <a:xfrm>
            <a:off x="6565392" y="3931920"/>
            <a:ext cx="685800" cy="685800"/>
          </a:xfrm>
          <a:prstGeom prst="ellipse">
            <a:avLst/>
          </a:prstGeom>
          <a:solidFill>
            <a:schemeClr val="accent2"/>
          </a:solidFill>
          <a:ln w="12700">
            <a:solidFill>
              <a:schemeClr val="accent2"/>
            </a:solidFill>
            <a:prstDash val="solid"/>
          </a:ln>
        </p:spPr>
        <p:txBody>
          <a:bodyPr/>
          <a:lstStyle/>
          <a:p>
            <a:endParaRPr lang="fr-FR"/>
          </a:p>
        </p:txBody>
      </p:sp>
      <p:pic>
        <p:nvPicPr>
          <p:cNvPr id="21" name="Image 3" descr="FaBan"/>
          <p:cNvPicPr>
            <a:picLocks noChangeAspect="1"/>
          </p:cNvPicPr>
          <p:nvPr/>
        </p:nvPicPr>
        <p:blipFill>
          <a:blip r:embed="rId6"/>
          <a:stretch>
            <a:fillRect/>
          </a:stretch>
        </p:blipFill>
        <p:spPr>
          <a:xfrm>
            <a:off x="6757416" y="4123944"/>
            <a:ext cx="301752" cy="301752"/>
          </a:xfrm>
          <a:prstGeom prst="rect">
            <a:avLst/>
          </a:prstGeom>
        </p:spPr>
      </p:pic>
      <p:sp>
        <p:nvSpPr>
          <p:cNvPr id="22" name="Text 16"/>
          <p:cNvSpPr txBox="1"/>
          <p:nvPr/>
        </p:nvSpPr>
        <p:spPr>
          <a:xfrm>
            <a:off x="7434072" y="3931920"/>
            <a:ext cx="4069080" cy="685800"/>
          </a:xfrm>
          <a:prstGeom prst="rect">
            <a:avLst/>
          </a:prstGeom>
          <a:noFill/>
          <a:ln/>
        </p:spPr>
        <p:txBody>
          <a:bodyPr wrap="square" lIns="0" tIns="0" rIns="0" bIns="0" rtlCol="0" anchor="ctr"/>
          <a:lstStyle/>
          <a:p>
            <a:pPr marL="0" indent="0">
              <a:buNone/>
            </a:pPr>
            <a:r>
              <a:rPr lang="en-US" sz="1900" b="1" dirty="0">
                <a:solidFill>
                  <a:schemeClr val="tx2"/>
                </a:solidFill>
              </a:rPr>
              <a:t>Des actions irréversibles</a:t>
            </a:r>
            <a:endParaRPr lang="en-US" sz="1900" dirty="0"/>
          </a:p>
        </p:txBody>
      </p:sp>
      <p:sp>
        <p:nvSpPr>
          <p:cNvPr id="23" name="Text 17"/>
          <p:cNvSpPr txBox="1"/>
          <p:nvPr/>
        </p:nvSpPr>
        <p:spPr>
          <a:xfrm>
            <a:off x="6565392" y="4800600"/>
            <a:ext cx="4892040" cy="731520"/>
          </a:xfrm>
          <a:prstGeom prst="rect">
            <a:avLst/>
          </a:prstGeom>
          <a:noFill/>
          <a:ln/>
        </p:spPr>
        <p:txBody>
          <a:bodyPr wrap="square" lIns="0" tIns="0" rIns="0" bIns="0" rtlCol="0" anchor="t"/>
          <a:lstStyle/>
          <a:p>
            <a:pPr marL="0" indent="0">
              <a:buNone/>
            </a:pPr>
            <a:r>
              <a:rPr lang="en-US" sz="1500" dirty="0">
                <a:solidFill>
                  <a:schemeClr val="tx1"/>
                </a:solidFill>
              </a:rPr>
              <a:t>DEPRECATED et CLOSED sont définitifs : nous avons déprécié le plan v1, pas l'API</a:t>
            </a:r>
            <a:endParaRPr lang="en-US" sz="1500" dirty="0"/>
          </a:p>
        </p:txBody>
      </p:sp>
      <p:sp>
        <p:nvSpPr>
          <p:cNvPr id="24" name="Text 18"/>
          <p:cNvSpPr txBox="1"/>
          <p:nvPr/>
        </p:nvSpPr>
        <p:spPr>
          <a:xfrm>
            <a:off x="457200" y="5897880"/>
            <a:ext cx="11274552" cy="411480"/>
          </a:xfrm>
          <a:prstGeom prst="rect">
            <a:avLst/>
          </a:prstGeom>
          <a:noFill/>
          <a:ln/>
        </p:spPr>
        <p:txBody>
          <a:bodyPr wrap="square" lIns="0" tIns="0" rIns="0" bIns="0" rtlCol="0" anchor="ctr"/>
          <a:lstStyle/>
          <a:p>
            <a:pPr marL="0" indent="0">
              <a:buNone/>
            </a:pPr>
            <a:r>
              <a:rPr lang="en-US" sz="1300" dirty="0">
                <a:solidFill>
                  <a:schemeClr val="accent6"/>
                </a:solidFill>
              </a:rPr>
              <a:t>Reproductibilité : les API s'exportent en JSON, mais pas les applications ni les souscriptions, qu'il faut recréer (procédure dans gravitee/README.md).</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10881360" cy="822960"/>
          </a:xfrm>
          <a:prstGeom prst="rect">
            <a:avLst/>
          </a:prstGeom>
          <a:noFill/>
          <a:ln/>
        </p:spPr>
        <p:txBody>
          <a:bodyPr wrap="square" lIns="0" tIns="0" rIns="0" bIns="0" rtlCol="0" anchor="ctr"/>
          <a:lstStyle/>
          <a:p>
            <a:pPr marL="0" indent="0" algn="l">
              <a:buNone/>
            </a:pPr>
            <a:r>
              <a:rPr lang="en-US" sz="3600" b="1" dirty="0">
                <a:solidFill>
                  <a:schemeClr val="bg1"/>
                </a:solidFill>
              </a:rPr>
              <a:t>Une API exposée, sécurisée et gouvernée</a:t>
            </a:r>
            <a:endParaRPr lang="en-US" sz="3600" dirty="0"/>
          </a:p>
        </p:txBody>
      </p:sp>
      <p:pic>
        <p:nvPicPr>
          <p:cNvPr id="3" name="Image 0" descr="validé"/>
          <p:cNvPicPr>
            <a:picLocks noChangeAspect="1"/>
          </p:cNvPicPr>
          <p:nvPr/>
        </p:nvPicPr>
        <p:blipFill>
          <a:blip r:embed="rId3"/>
          <a:stretch>
            <a:fillRect/>
          </a:stretch>
        </p:blipFill>
        <p:spPr>
          <a:xfrm>
            <a:off x="640080" y="1609344"/>
            <a:ext cx="329184" cy="329184"/>
          </a:xfrm>
          <a:prstGeom prst="rect">
            <a:avLst/>
          </a:prstGeom>
        </p:spPr>
      </p:pic>
      <p:sp>
        <p:nvSpPr>
          <p:cNvPr id="4" name="Text 1"/>
          <p:cNvSpPr txBox="1"/>
          <p:nvPr/>
        </p:nvSpPr>
        <p:spPr>
          <a:xfrm>
            <a:off x="1143000" y="1554480"/>
            <a:ext cx="5852160" cy="438912"/>
          </a:xfrm>
          <a:prstGeom prst="rect">
            <a:avLst/>
          </a:prstGeom>
          <a:noFill/>
          <a:ln/>
        </p:spPr>
        <p:txBody>
          <a:bodyPr wrap="square" lIns="0" tIns="0" rIns="0" bIns="0" rtlCol="0" anchor="ctr"/>
          <a:lstStyle/>
          <a:p>
            <a:pPr marL="0" indent="0">
              <a:buNone/>
            </a:pPr>
            <a:r>
              <a:rPr lang="en-US" sz="1700" dirty="0">
                <a:solidFill>
                  <a:schemeClr val="bg1"/>
                </a:solidFill>
              </a:rPr>
              <a:t>API REST : lecture, recherche, pagination</a:t>
            </a:r>
            <a:endParaRPr lang="en-US" sz="1700" dirty="0"/>
          </a:p>
        </p:txBody>
      </p:sp>
      <p:pic>
        <p:nvPicPr>
          <p:cNvPr id="5" name="Image 1" descr="validé"/>
          <p:cNvPicPr>
            <a:picLocks noChangeAspect="1"/>
          </p:cNvPicPr>
          <p:nvPr/>
        </p:nvPicPr>
        <p:blipFill>
          <a:blip r:embed="rId3"/>
          <a:stretch>
            <a:fillRect/>
          </a:stretch>
        </p:blipFill>
        <p:spPr>
          <a:xfrm>
            <a:off x="640080" y="2176272"/>
            <a:ext cx="329184" cy="329184"/>
          </a:xfrm>
          <a:prstGeom prst="rect">
            <a:avLst/>
          </a:prstGeom>
        </p:spPr>
      </p:pic>
      <p:sp>
        <p:nvSpPr>
          <p:cNvPr id="6" name="Text 2"/>
          <p:cNvSpPr txBox="1"/>
          <p:nvPr/>
        </p:nvSpPr>
        <p:spPr>
          <a:xfrm>
            <a:off x="1143000" y="2121408"/>
            <a:ext cx="5852160" cy="438912"/>
          </a:xfrm>
          <a:prstGeom prst="rect">
            <a:avLst/>
          </a:prstGeom>
          <a:noFill/>
          <a:ln/>
        </p:spPr>
        <p:txBody>
          <a:bodyPr wrap="square" lIns="0" tIns="0" rIns="0" bIns="0" rtlCol="0" anchor="ctr"/>
          <a:lstStyle/>
          <a:p>
            <a:pPr marL="0" indent="0">
              <a:buNone/>
            </a:pPr>
            <a:r>
              <a:rPr lang="en-US" sz="1700" dirty="0">
                <a:solidFill>
                  <a:schemeClr val="bg1"/>
                </a:solidFill>
              </a:rPr>
              <a:t>Enregistrement et routage dans Gravitee</a:t>
            </a:r>
            <a:endParaRPr lang="en-US" sz="1700" dirty="0"/>
          </a:p>
        </p:txBody>
      </p:sp>
      <p:pic>
        <p:nvPicPr>
          <p:cNvPr id="7" name="Image 2" descr="validé"/>
          <p:cNvPicPr>
            <a:picLocks noChangeAspect="1"/>
          </p:cNvPicPr>
          <p:nvPr/>
        </p:nvPicPr>
        <p:blipFill>
          <a:blip r:embed="rId3"/>
          <a:stretch>
            <a:fillRect/>
          </a:stretch>
        </p:blipFill>
        <p:spPr>
          <a:xfrm>
            <a:off x="640080" y="2743200"/>
            <a:ext cx="329184" cy="329184"/>
          </a:xfrm>
          <a:prstGeom prst="rect">
            <a:avLst/>
          </a:prstGeom>
        </p:spPr>
      </p:pic>
      <p:sp>
        <p:nvSpPr>
          <p:cNvPr id="8" name="Text 3"/>
          <p:cNvSpPr txBox="1"/>
          <p:nvPr/>
        </p:nvSpPr>
        <p:spPr>
          <a:xfrm>
            <a:off x="1143000" y="2688336"/>
            <a:ext cx="5852160" cy="438912"/>
          </a:xfrm>
          <a:prstGeom prst="rect">
            <a:avLst/>
          </a:prstGeom>
          <a:noFill/>
          <a:ln/>
        </p:spPr>
        <p:txBody>
          <a:bodyPr wrap="square" lIns="0" tIns="0" rIns="0" bIns="0" rtlCol="0" anchor="ctr"/>
          <a:lstStyle/>
          <a:p>
            <a:pPr marL="0" indent="0">
              <a:buNone/>
            </a:pPr>
            <a:r>
              <a:rPr lang="en-US" sz="1700" dirty="0">
                <a:solidFill>
                  <a:schemeClr val="bg1"/>
                </a:solidFill>
              </a:rPr>
              <a:t>Contrat OpenAPI : paramètres, réponses, erreurs</a:t>
            </a:r>
            <a:endParaRPr lang="en-US" sz="1700" dirty="0"/>
          </a:p>
        </p:txBody>
      </p:sp>
      <p:pic>
        <p:nvPicPr>
          <p:cNvPr id="9" name="Image 3" descr="validé"/>
          <p:cNvPicPr>
            <a:picLocks noChangeAspect="1"/>
          </p:cNvPicPr>
          <p:nvPr/>
        </p:nvPicPr>
        <p:blipFill>
          <a:blip r:embed="rId3"/>
          <a:stretch>
            <a:fillRect/>
          </a:stretch>
        </p:blipFill>
        <p:spPr>
          <a:xfrm>
            <a:off x="640080" y="3310128"/>
            <a:ext cx="329184" cy="329184"/>
          </a:xfrm>
          <a:prstGeom prst="rect">
            <a:avLst/>
          </a:prstGeom>
        </p:spPr>
      </p:pic>
      <p:sp>
        <p:nvSpPr>
          <p:cNvPr id="10" name="Text 4"/>
          <p:cNvSpPr txBox="1"/>
          <p:nvPr/>
        </p:nvSpPr>
        <p:spPr>
          <a:xfrm>
            <a:off x="1143000" y="3255264"/>
            <a:ext cx="5852160" cy="438912"/>
          </a:xfrm>
          <a:prstGeom prst="rect">
            <a:avLst/>
          </a:prstGeom>
          <a:noFill/>
          <a:ln/>
        </p:spPr>
        <p:txBody>
          <a:bodyPr wrap="square" lIns="0" tIns="0" rIns="0" bIns="0" rtlCol="0" anchor="ctr"/>
          <a:lstStyle/>
          <a:p>
            <a:pPr marL="0" indent="0">
              <a:buNone/>
            </a:pPr>
            <a:r>
              <a:rPr lang="en-US" sz="1700" dirty="0">
                <a:solidFill>
                  <a:schemeClr val="bg1"/>
                </a:solidFill>
              </a:rPr>
              <a:t>Plan avec authentification et quota</a:t>
            </a:r>
            <a:endParaRPr lang="en-US" sz="1700" dirty="0"/>
          </a:p>
        </p:txBody>
      </p:sp>
      <p:pic>
        <p:nvPicPr>
          <p:cNvPr id="11" name="Image 4" descr="validé"/>
          <p:cNvPicPr>
            <a:picLocks noChangeAspect="1"/>
          </p:cNvPicPr>
          <p:nvPr/>
        </p:nvPicPr>
        <p:blipFill>
          <a:blip r:embed="rId3"/>
          <a:stretch>
            <a:fillRect/>
          </a:stretch>
        </p:blipFill>
        <p:spPr>
          <a:xfrm>
            <a:off x="640080" y="3877056"/>
            <a:ext cx="329184" cy="329184"/>
          </a:xfrm>
          <a:prstGeom prst="rect">
            <a:avLst/>
          </a:prstGeom>
        </p:spPr>
      </p:pic>
      <p:sp>
        <p:nvSpPr>
          <p:cNvPr id="12" name="Text 5"/>
          <p:cNvSpPr txBox="1"/>
          <p:nvPr/>
        </p:nvSpPr>
        <p:spPr>
          <a:xfrm>
            <a:off x="1143000" y="3822192"/>
            <a:ext cx="5852160" cy="438912"/>
          </a:xfrm>
          <a:prstGeom prst="rect">
            <a:avLst/>
          </a:prstGeom>
          <a:noFill/>
          <a:ln/>
        </p:spPr>
        <p:txBody>
          <a:bodyPr wrap="square" lIns="0" tIns="0" rIns="0" bIns="0" rtlCol="0" anchor="ctr"/>
          <a:lstStyle/>
          <a:p>
            <a:pPr marL="0" indent="0">
              <a:buNone/>
            </a:pPr>
            <a:r>
              <a:rPr lang="en-US" sz="1700" dirty="0">
                <a:solidFill>
                  <a:schemeClr val="bg1"/>
                </a:solidFill>
              </a:rPr>
              <a:t>Cycle de vie : création, publication, retrait, v2</a:t>
            </a:r>
            <a:endParaRPr lang="en-US" sz="1700" dirty="0"/>
          </a:p>
        </p:txBody>
      </p:sp>
      <p:pic>
        <p:nvPicPr>
          <p:cNvPr id="13" name="Image 5" descr="validé"/>
          <p:cNvPicPr>
            <a:picLocks noChangeAspect="1"/>
          </p:cNvPicPr>
          <p:nvPr/>
        </p:nvPicPr>
        <p:blipFill>
          <a:blip r:embed="rId3"/>
          <a:stretch>
            <a:fillRect/>
          </a:stretch>
        </p:blipFill>
        <p:spPr>
          <a:xfrm>
            <a:off x="640080" y="4443984"/>
            <a:ext cx="329184" cy="329184"/>
          </a:xfrm>
          <a:prstGeom prst="rect">
            <a:avLst/>
          </a:prstGeom>
        </p:spPr>
      </p:pic>
      <p:sp>
        <p:nvSpPr>
          <p:cNvPr id="14" name="Text 6"/>
          <p:cNvSpPr txBox="1"/>
          <p:nvPr/>
        </p:nvSpPr>
        <p:spPr>
          <a:xfrm>
            <a:off x="1143000" y="4389120"/>
            <a:ext cx="5852160" cy="438912"/>
          </a:xfrm>
          <a:prstGeom prst="rect">
            <a:avLst/>
          </a:prstGeom>
          <a:noFill/>
          <a:ln/>
        </p:spPr>
        <p:txBody>
          <a:bodyPr wrap="square" lIns="0" tIns="0" rIns="0" bIns="0" rtlCol="0" anchor="ctr"/>
          <a:lstStyle/>
          <a:p>
            <a:pPr marL="0" indent="0">
              <a:buNone/>
            </a:pPr>
            <a:r>
              <a:rPr lang="en-US" sz="1700" dirty="0">
                <a:solidFill>
                  <a:schemeClr val="bg1"/>
                </a:solidFill>
              </a:rPr>
              <a:t>Application consommatrice et souscription</a:t>
            </a:r>
            <a:endParaRPr lang="en-US" sz="1700" dirty="0"/>
          </a:p>
        </p:txBody>
      </p:sp>
      <p:pic>
        <p:nvPicPr>
          <p:cNvPr id="15" name="Image 6" descr="validé"/>
          <p:cNvPicPr>
            <a:picLocks noChangeAspect="1"/>
          </p:cNvPicPr>
          <p:nvPr/>
        </p:nvPicPr>
        <p:blipFill>
          <a:blip r:embed="rId3"/>
          <a:stretch>
            <a:fillRect/>
          </a:stretch>
        </p:blipFill>
        <p:spPr>
          <a:xfrm>
            <a:off x="640080" y="5010912"/>
            <a:ext cx="329184" cy="329184"/>
          </a:xfrm>
          <a:prstGeom prst="rect">
            <a:avLst/>
          </a:prstGeom>
        </p:spPr>
      </p:pic>
      <p:sp>
        <p:nvSpPr>
          <p:cNvPr id="16" name="Text 7"/>
          <p:cNvSpPr txBox="1"/>
          <p:nvPr/>
        </p:nvSpPr>
        <p:spPr>
          <a:xfrm>
            <a:off x="1143000" y="4956048"/>
            <a:ext cx="5852160" cy="438912"/>
          </a:xfrm>
          <a:prstGeom prst="rect">
            <a:avLst/>
          </a:prstGeom>
          <a:noFill/>
          <a:ln/>
        </p:spPr>
        <p:txBody>
          <a:bodyPr wrap="square" lIns="0" tIns="0" rIns="0" bIns="0" rtlCol="0" anchor="ctr"/>
          <a:lstStyle/>
          <a:p>
            <a:pPr marL="0" indent="0">
              <a:buNone/>
            </a:pPr>
            <a:r>
              <a:rPr lang="en-US" sz="1700" dirty="0">
                <a:solidFill>
                  <a:schemeClr val="bg1"/>
                </a:solidFill>
              </a:rPr>
              <a:t>Retrait de publication ≠ arrêt technique</a:t>
            </a:r>
            <a:endParaRPr lang="en-US" sz="1700" dirty="0"/>
          </a:p>
        </p:txBody>
      </p:sp>
      <p:sp>
        <p:nvSpPr>
          <p:cNvPr id="17" name="demo"/>
          <p:cNvSpPr/>
          <p:nvPr/>
        </p:nvSpPr>
        <p:spPr>
          <a:xfrm>
            <a:off x="7498080" y="1554480"/>
            <a:ext cx="4069080" cy="1783080"/>
          </a:xfrm>
          <a:prstGeom prst="roundRect">
            <a:avLst>
              <a:gd name="adj" fmla="val 6154"/>
            </a:avLst>
          </a:prstGeom>
          <a:solidFill>
            <a:schemeClr val="accent2"/>
          </a:solidFill>
          <a:ln w="12700">
            <a:solidFill>
              <a:schemeClr val="accent2"/>
            </a:solidFill>
            <a:prstDash val="solid"/>
          </a:ln>
        </p:spPr>
        <p:txBody>
          <a:bodyPr/>
          <a:lstStyle/>
          <a:p>
            <a:endParaRPr lang="fr-FR"/>
          </a:p>
        </p:txBody>
      </p:sp>
      <p:sp>
        <p:nvSpPr>
          <p:cNvPr id="18" name="icone-FaPlay"/>
          <p:cNvSpPr/>
          <p:nvPr/>
        </p:nvSpPr>
        <p:spPr>
          <a:xfrm>
            <a:off x="7772400" y="1828800"/>
            <a:ext cx="731520" cy="731520"/>
          </a:xfrm>
          <a:prstGeom prst="ellipse">
            <a:avLst/>
          </a:prstGeom>
          <a:solidFill>
            <a:schemeClr val="bg1"/>
          </a:solidFill>
          <a:ln w="12700">
            <a:solidFill>
              <a:schemeClr val="bg1"/>
            </a:solidFill>
            <a:prstDash val="solid"/>
          </a:ln>
        </p:spPr>
        <p:txBody>
          <a:bodyPr/>
          <a:lstStyle/>
          <a:p>
            <a:endParaRPr lang="fr-FR"/>
          </a:p>
        </p:txBody>
      </p:sp>
      <p:pic>
        <p:nvPicPr>
          <p:cNvPr id="19" name="Image 7" descr="FaPlay"/>
          <p:cNvPicPr>
            <a:picLocks noChangeAspect="1"/>
          </p:cNvPicPr>
          <p:nvPr/>
        </p:nvPicPr>
        <p:blipFill>
          <a:blip r:embed="rId4"/>
          <a:stretch>
            <a:fillRect/>
          </a:stretch>
        </p:blipFill>
        <p:spPr>
          <a:xfrm>
            <a:off x="7977226" y="2033626"/>
            <a:ext cx="321869" cy="321869"/>
          </a:xfrm>
          <a:prstGeom prst="rect">
            <a:avLst/>
          </a:prstGeom>
        </p:spPr>
      </p:pic>
      <p:sp>
        <p:nvSpPr>
          <p:cNvPr id="20" name="Text 10"/>
          <p:cNvSpPr txBox="1"/>
          <p:nvPr/>
        </p:nvSpPr>
        <p:spPr>
          <a:xfrm>
            <a:off x="8641080" y="1828800"/>
            <a:ext cx="2788920" cy="731520"/>
          </a:xfrm>
          <a:prstGeom prst="rect">
            <a:avLst/>
          </a:prstGeom>
          <a:noFill/>
          <a:ln/>
        </p:spPr>
        <p:txBody>
          <a:bodyPr wrap="square" lIns="0" tIns="0" rIns="0" bIns="0" rtlCol="0" anchor="ctr"/>
          <a:lstStyle/>
          <a:p>
            <a:pPr marL="0" indent="0">
              <a:buNone/>
            </a:pPr>
            <a:r>
              <a:rPr lang="en-US" sz="2000" b="1" dirty="0">
                <a:solidFill>
                  <a:schemeClr val="bg1"/>
                </a:solidFill>
              </a:rPr>
              <a:t>Place à la démonstration</a:t>
            </a:r>
            <a:endParaRPr lang="en-US" sz="2000" dirty="0"/>
          </a:p>
        </p:txBody>
      </p:sp>
      <p:sp>
        <p:nvSpPr>
          <p:cNvPr id="21" name="Text 11"/>
          <p:cNvSpPr txBox="1"/>
          <p:nvPr/>
        </p:nvSpPr>
        <p:spPr>
          <a:xfrm>
            <a:off x="7772400" y="2788920"/>
            <a:ext cx="3611880" cy="731520"/>
          </a:xfrm>
          <a:prstGeom prst="rect">
            <a:avLst/>
          </a:prstGeom>
          <a:noFill/>
          <a:ln/>
        </p:spPr>
        <p:txBody>
          <a:bodyPr wrap="square" lIns="0" tIns="0" rIns="0" bIns="0" rtlCol="0" anchor="t"/>
          <a:lstStyle/>
          <a:p>
            <a:pPr marL="0" indent="0">
              <a:buNone/>
            </a:pPr>
            <a:r>
              <a:rPr lang="en-US" sz="1400" dirty="0">
                <a:solidFill>
                  <a:schemeClr val="bg1"/>
                </a:solidFill>
              </a:rPr>
              <a:t>Portail · 401 / 200 / 429 · retrait · arrêt · v2</a:t>
            </a:r>
            <a:endParaRPr lang="en-US" sz="1400" dirty="0"/>
          </a:p>
        </p:txBody>
      </p:sp>
      <p:sp>
        <p:nvSpPr>
          <p:cNvPr id="22" name="Text 12"/>
          <p:cNvSpPr txBox="1"/>
          <p:nvPr/>
        </p:nvSpPr>
        <p:spPr>
          <a:xfrm>
            <a:off x="7498080" y="3657600"/>
            <a:ext cx="4069080" cy="1554480"/>
          </a:xfrm>
          <a:prstGeom prst="rect">
            <a:avLst/>
          </a:prstGeom>
          <a:noFill/>
          <a:ln/>
        </p:spPr>
        <p:txBody>
          <a:bodyPr wrap="square" lIns="0" tIns="0" rIns="0" bIns="0" rtlCol="0" anchor="t"/>
          <a:lstStyle/>
          <a:p>
            <a:pPr marL="0" indent="0">
              <a:spcAft>
                <a:spcPts val="600"/>
              </a:spcAft>
              <a:buNone/>
            </a:pPr>
            <a:r>
              <a:rPr lang="en-US" sz="1700" b="1" dirty="0">
                <a:solidFill>
                  <a:schemeClr val="bg1"/>
                </a:solidFill>
              </a:rPr>
              <a:t>Perspectives</a:t>
            </a:r>
            <a:endParaRPr lang="en-US" sz="1700" dirty="0"/>
          </a:p>
          <a:p>
            <a:pPr marL="0" indent="0">
              <a:spcAft>
                <a:spcPts val="600"/>
              </a:spcAft>
              <a:buNone/>
            </a:pPr>
            <a:r>
              <a:rPr lang="en-US" sz="1400" dirty="0">
                <a:solidFill>
                  <a:schemeClr val="bg2"/>
                </a:solidFill>
              </a:rPr>
              <a:t>Authentification OAuth2 / JWT, tests Newman dans une intégration continue, alertes et tableaux de bord Gravitee.</a:t>
            </a:r>
            <a:endParaRPr lang="en-US" sz="1700" dirty="0"/>
          </a:p>
        </p:txBody>
      </p:sp>
      <p:sp>
        <p:nvSpPr>
          <p:cNvPr id="23" name="Text 13"/>
          <p:cNvSpPr txBox="1"/>
          <p:nvPr/>
        </p:nvSpPr>
        <p:spPr>
          <a:xfrm>
            <a:off x="640080" y="5989320"/>
            <a:ext cx="10881360" cy="457200"/>
          </a:xfrm>
          <a:prstGeom prst="rect">
            <a:avLst/>
          </a:prstGeom>
          <a:noFill/>
          <a:ln/>
        </p:spPr>
        <p:txBody>
          <a:bodyPr wrap="square" lIns="0" tIns="0" rIns="0" bIns="0" rtlCol="0" anchor="ctr"/>
          <a:lstStyle/>
          <a:p>
            <a:pPr marL="0" indent="0">
              <a:buNone/>
            </a:pPr>
            <a:r>
              <a:rPr lang="en-US" sz="1800" b="1" dirty="0">
                <a:solidFill>
                  <a:schemeClr val="bg1"/>
                </a:solidFill>
              </a:rPr>
              <a:t>Merci de votre attention — Questions ?</a:t>
            </a:r>
            <a:endParaRPr lang="en-US" sz="1800" dirty="0"/>
          </a:p>
        </p:txBody>
      </p:sp>
    </p:spTree>
  </p:cSld>
  <p:clrMapOvr>
    <a:masterClrMapping/>
  </p:clrMapOvr>
</p:sld>
</file>

<file path=ppt/theme/theme1.xml><?xml version="1.0" encoding="utf-8"?>
<a:theme xmlns:a="http://schemas.openxmlformats.org/drawingml/2006/main" name="Gravitee Santé">
  <a:themeElements>
    <a:clrScheme name="Gravitee Santé">
      <a:dk1>
        <a:srgbClr val="1B2B2E"/>
      </a:dk1>
      <a:lt1>
        <a:srgbClr val="FFFFFF"/>
      </a:lt1>
      <a:dk2>
        <a:srgbClr val="0E4D4A"/>
      </a:dk2>
      <a:lt2>
        <a:srgbClr val="EEF4F3"/>
      </a:lt2>
      <a:accent1>
        <a:srgbClr val="0E7C74"/>
      </a:accent1>
      <a:accent2>
        <a:srgbClr val="F26B21"/>
      </a:accent2>
      <a:accent3>
        <a:srgbClr val="2E9E5B"/>
      </a:accent3>
      <a:accent4>
        <a:srgbClr val="D64545"/>
      </a:accent4>
      <a:accent5>
        <a:srgbClr val="C98A00"/>
      </a:accent5>
      <a:accent6>
        <a:srgbClr val="5B6B70"/>
      </a:accent6>
      <a:hlink>
        <a:srgbClr val="0E7C74"/>
      </a:hlink>
      <a:folHlink>
        <a:srgbClr val="5B6B70"/>
      </a:folHlink>
    </a:clrScheme>
    <a:fontScheme name="Gravitee Santé">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2814</Words>
  <Application>Microsoft Office PowerPoint</Application>
  <PresentationFormat>Grand écran</PresentationFormat>
  <Paragraphs>296</Paragraphs>
  <Slides>14</Slides>
  <Notes>14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Calibri</vt:lpstr>
      <vt:lpstr>Courier New</vt:lpstr>
      <vt:lpstr>Gravitee Santé</vt:lpstr>
      <vt:lpstr>Gestion du cycle de vie des API avec Gravitee</vt:lpstr>
      <vt:lpstr>Contexte et objectifs</vt:lpstr>
      <vt:lpstr>Architecture : tout passe par la gateway</vt:lpstr>
      <vt:lpstr>Modèle de données et API FastAPI</vt:lpstr>
      <vt:lpstr>Pagination et recherche</vt:lpstr>
      <vt:lpstr>Contrat OpenAPI et format d'erreur</vt:lpstr>
      <vt:lpstr>Codes d'erreur : backend et gateway</vt:lpstr>
      <vt:lpstr>Enregistrement et routage dans Gravitee</vt:lpstr>
      <vt:lpstr>Plan d'accès, application et souscription</vt:lpstr>
      <vt:lpstr>Cycle de vie : états et version 2</vt:lpstr>
      <vt:lpstr>Retrait de publication ≠ arrêt technique</vt:lpstr>
      <vt:lpstr>Tests automatisés : 44 vérifications, 0 échec</vt:lpstr>
      <vt:lpstr>Difficultés et enseignements</vt:lpstr>
      <vt:lpstr>Une API exposée, sécurisée et gouvernée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du cycle de vie des API avec Gravitee</dc:title>
  <dc:subject>Thème 22 — Projet Développement à base de composants</dc:subject>
  <dc:creator>SI Groupe 2 — IBAM 2026</dc:creator>
  <cp:lastModifiedBy>Lysias SIMPORE</cp:lastModifiedBy>
  <cp:revision>1</cp:revision>
  <dcterms:created xsi:type="dcterms:W3CDTF">2026-10-27T09:05:50Z</dcterms:created>
  <dcterms:modified xsi:type="dcterms:W3CDTF">2026-10-27T09:33:41Z</dcterms:modified>
</cp:coreProperties>
</file>